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6256000" cy="9144000"/>
  <p:notesSz cx="9144000" cy="16256000"/>
  <p:embeddedFontLst>
    <p:embeddedFont>
      <p:font typeface="Quattrocento Sans" charset="-122" pitchFamily="34"/>
      <p:regular r:id="rId24"/>
    </p:embeddedFont>
    <p:embeddedFont>
      <p:font typeface="Oranienbaum" charset="-122" pitchFamily="34"/>
      <p:regular r:id="rId25"/>
    </p:embeddedFont>
    <p:embeddedFont>
      <p:font typeface="Liter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USA</c:v>
                  </c:pt>
                  <c:pt idx="1">
                    <c:v>Asia</c:v>
                  </c:pt>
                  <c:pt idx="2">
                    <c:v>Europe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</c:v>
                </c:pt>
                <c:pt idx="1">
                  <c:v>0.68</c:v>
                </c:pt>
                <c:pt idx="2">
                  <c:v>0.23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0C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96E"/>
              </a:solidFill>
              <a:effectLst/>
            </c:spPr>
          </c:dPt>
          <c:dPt>
            <c:idx val="1"/>
            <c:bubble3D val="0"/>
            <c:spPr>
              <a:solidFill>
                <a:srgbClr val="E8E4D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Team Navy</c:v>
                </c:pt>
                <c:pt idx="1">
                  <c:v>Competitors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12.52</c:v>
                </c:pt>
                <c:pt idx="1">
                  <c:v>87.48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d3iquguxr6r4/mnt/agents/output/team-navy-capstone/images/5_Abstract_dark_navy_blue_premium_background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D32">
                  <a:alpha val="90000"/>
                </a:srgbClr>
              </a:gs>
              <a:gs pos="50000">
                <a:srgbClr val="0F1D32">
                  <a:alpha val="80000"/>
                </a:srgbClr>
              </a:gs>
              <a:gs pos="100000">
                <a:srgbClr val="0F1D32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794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400" kern="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UNIVERSE 2 · BUSINESS SIMULATION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78000" y="3302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spc="600" kern="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CAPSTONE PROJECT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4508500"/>
            <a:ext cx="2540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4"/>
          <p:cNvSpPr/>
          <p:nvPr/>
        </p:nvSpPr>
        <p:spPr>
          <a:xfrm>
            <a:off x="4953000" y="4762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spc="800" kern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TEAM NAVY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18000" y="5461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Planning · Financial Management · Market Expansion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850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76000" y="85090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100" kern="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Anshuman · Saif · Manavendra · Aabda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16000"/>
            <a:ext cx="50800" cy="7620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9906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6000" y="1714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921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59000" y="298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34036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 composition, company background, and strategic objectives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6000" y="4064000"/>
            <a:ext cx="6604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4445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59000" y="450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Performance Snapshot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4927600"/>
            <a:ext cx="558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Financial results, market position, and operational metrics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16000" y="5588000"/>
            <a:ext cx="6604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0" y="2921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33000" y="298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Strategic Decisions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33000" y="3403600"/>
            <a:ext cx="533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Six interconnected strategies driving competitive advantage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90000" y="4064000"/>
            <a:ext cx="6604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8" name="Text 16"/>
          <p:cNvSpPr/>
          <p:nvPr/>
        </p:nvSpPr>
        <p:spPr>
          <a:xfrm>
            <a:off x="8890000" y="4445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33000" y="450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33000" y="4927600"/>
            <a:ext cx="533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Learning outcomes and reflections from the simulation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90000" y="5588000"/>
            <a:ext cx="6604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8788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 NAVY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4" name="Text 22"/>
          <p:cNvSpPr/>
          <p:nvPr/>
        </p:nvSpPr>
        <p:spPr>
          <a:xfrm>
            <a:off x="14859000" y="87884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d3iquguxr6r4/mnt/agents/output/team-navy-capstone/images/7_17_561_Business_Dark_Team_Stock_Photos.png">    </p:cNvPr>
          <p:cNvPicPr>
            <a:picLocks noChangeAspect="1"/>
          </p:cNvPicPr>
          <p:nvPr/>
        </p:nvPicPr>
        <p:blipFill>
          <a:blip r:embed="rId1"/>
          <a:srcRect l="0" r="0" t="9677" b="967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D32">
                  <a:alpha val="95000"/>
                </a:srgbClr>
              </a:gs>
              <a:gs pos="60000">
                <a:srgbClr val="0F1D32">
                  <a:alpha val="80000"/>
                </a:srgbClr>
              </a:gs>
              <a:gs pos="100000">
                <a:srgbClr val="0F1D32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016000" cy="381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composition, company background, and strategic objectives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Team Navy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5200" y="114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Universe 2 · Capstone Business Simulation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32000"/>
            <a:ext cx="3429000" cy="5334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7" name="Shape 5"/>
          <p:cNvSpPr/>
          <p:nvPr/>
        </p:nvSpPr>
        <p:spPr>
          <a:xfrm>
            <a:off x="2087563" y="2540000"/>
            <a:ext cx="777875" cy="889000"/>
          </a:xfrm>
          <a:custGeom>
            <a:avLst/>
            <a:gdLst/>
            <a:ahLst/>
            <a:cxnLst/>
            <a:rect l="l" t="t" r="r" b="b"/>
            <a:pathLst>
              <a:path w="777875" h="889000">
                <a:moveTo>
                  <a:pt x="388938" y="430609"/>
                </a:moveTo>
                <a:cubicBezTo>
                  <a:pt x="273941" y="430609"/>
                  <a:pt x="180578" y="337247"/>
                  <a:pt x="180578" y="222250"/>
                </a:cubicBezTo>
                <a:cubicBezTo>
                  <a:pt x="180578" y="107253"/>
                  <a:pt x="273941" y="13891"/>
                  <a:pt x="388937" y="13891"/>
                </a:cubicBezTo>
                <a:cubicBezTo>
                  <a:pt x="503934" y="13891"/>
                  <a:pt x="597297" y="107253"/>
                  <a:pt x="597297" y="222250"/>
                </a:cubicBezTo>
                <a:cubicBezTo>
                  <a:pt x="597297" y="337247"/>
                  <a:pt x="503934" y="430609"/>
                  <a:pt x="388938" y="430609"/>
                </a:cubicBezTo>
                <a:close/>
                <a:moveTo>
                  <a:pt x="335979" y="527844"/>
                </a:moveTo>
                <a:lnTo>
                  <a:pt x="441896" y="527844"/>
                </a:lnTo>
                <a:cubicBezTo>
                  <a:pt x="458738" y="527844"/>
                  <a:pt x="472281" y="541387"/>
                  <a:pt x="472281" y="558229"/>
                </a:cubicBezTo>
                <a:cubicBezTo>
                  <a:pt x="472281" y="565522"/>
                  <a:pt x="469677" y="572467"/>
                  <a:pt x="464989" y="578024"/>
                </a:cubicBezTo>
                <a:lnTo>
                  <a:pt x="417413" y="633586"/>
                </a:lnTo>
                <a:lnTo>
                  <a:pt x="471239" y="833438"/>
                </a:lnTo>
                <a:lnTo>
                  <a:pt x="472281" y="833438"/>
                </a:lnTo>
                <a:lnTo>
                  <a:pt x="532358" y="592956"/>
                </a:lnTo>
                <a:cubicBezTo>
                  <a:pt x="536178" y="577850"/>
                  <a:pt x="551631" y="568647"/>
                  <a:pt x="566217" y="574204"/>
                </a:cubicBezTo>
                <a:cubicBezTo>
                  <a:pt x="673695" y="615181"/>
                  <a:pt x="750094" y="719361"/>
                  <a:pt x="750094" y="841251"/>
                </a:cubicBezTo>
                <a:cubicBezTo>
                  <a:pt x="750094" y="867470"/>
                  <a:pt x="728737" y="888826"/>
                  <a:pt x="702518" y="888826"/>
                </a:cubicBezTo>
                <a:lnTo>
                  <a:pt x="75357" y="889000"/>
                </a:lnTo>
                <a:cubicBezTo>
                  <a:pt x="49138" y="889000"/>
                  <a:pt x="27781" y="867643"/>
                  <a:pt x="27781" y="841425"/>
                </a:cubicBezTo>
                <a:cubicBezTo>
                  <a:pt x="27781" y="719534"/>
                  <a:pt x="104180" y="615355"/>
                  <a:pt x="211658" y="574377"/>
                </a:cubicBezTo>
                <a:cubicBezTo>
                  <a:pt x="226244" y="568821"/>
                  <a:pt x="241697" y="578024"/>
                  <a:pt x="245517" y="593130"/>
                </a:cubicBezTo>
                <a:lnTo>
                  <a:pt x="305594" y="833611"/>
                </a:lnTo>
                <a:lnTo>
                  <a:pt x="306636" y="833611"/>
                </a:lnTo>
                <a:lnTo>
                  <a:pt x="360462" y="633760"/>
                </a:lnTo>
                <a:lnTo>
                  <a:pt x="312886" y="578197"/>
                </a:lnTo>
                <a:cubicBezTo>
                  <a:pt x="308198" y="572641"/>
                  <a:pt x="305594" y="565696"/>
                  <a:pt x="305594" y="558403"/>
                </a:cubicBezTo>
                <a:cubicBezTo>
                  <a:pt x="305594" y="541561"/>
                  <a:pt x="319137" y="528017"/>
                  <a:pt x="335979" y="528017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3810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Anshuman Dwivedi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4254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MDB25043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05000" y="4762500"/>
            <a:ext cx="1143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50165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Planning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Market Analysis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33900" y="2032000"/>
            <a:ext cx="3429000" cy="5334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9463" y="2540000"/>
            <a:ext cx="777875" cy="889000"/>
          </a:xfrm>
          <a:custGeom>
            <a:avLst/>
            <a:gdLst/>
            <a:ahLst/>
            <a:cxnLst/>
            <a:rect l="l" t="t" r="r" b="b"/>
            <a:pathLst>
              <a:path w="777875" h="889000">
                <a:moveTo>
                  <a:pt x="388938" y="430609"/>
                </a:moveTo>
                <a:cubicBezTo>
                  <a:pt x="273941" y="430609"/>
                  <a:pt x="180578" y="337247"/>
                  <a:pt x="180578" y="222250"/>
                </a:cubicBezTo>
                <a:cubicBezTo>
                  <a:pt x="180578" y="107253"/>
                  <a:pt x="273941" y="13891"/>
                  <a:pt x="388937" y="13891"/>
                </a:cubicBezTo>
                <a:cubicBezTo>
                  <a:pt x="503934" y="13891"/>
                  <a:pt x="597297" y="107253"/>
                  <a:pt x="597297" y="222250"/>
                </a:cubicBezTo>
                <a:cubicBezTo>
                  <a:pt x="597297" y="337247"/>
                  <a:pt x="503934" y="430609"/>
                  <a:pt x="388938" y="430609"/>
                </a:cubicBezTo>
                <a:close/>
                <a:moveTo>
                  <a:pt x="335979" y="527844"/>
                </a:moveTo>
                <a:lnTo>
                  <a:pt x="441896" y="527844"/>
                </a:lnTo>
                <a:cubicBezTo>
                  <a:pt x="458738" y="527844"/>
                  <a:pt x="472281" y="541387"/>
                  <a:pt x="472281" y="558229"/>
                </a:cubicBezTo>
                <a:cubicBezTo>
                  <a:pt x="472281" y="565522"/>
                  <a:pt x="469677" y="572467"/>
                  <a:pt x="464989" y="578024"/>
                </a:cubicBezTo>
                <a:lnTo>
                  <a:pt x="417413" y="633586"/>
                </a:lnTo>
                <a:lnTo>
                  <a:pt x="471239" y="833438"/>
                </a:lnTo>
                <a:lnTo>
                  <a:pt x="472281" y="833438"/>
                </a:lnTo>
                <a:lnTo>
                  <a:pt x="532358" y="592956"/>
                </a:lnTo>
                <a:cubicBezTo>
                  <a:pt x="536178" y="577850"/>
                  <a:pt x="551631" y="568647"/>
                  <a:pt x="566217" y="574204"/>
                </a:cubicBezTo>
                <a:cubicBezTo>
                  <a:pt x="673695" y="615181"/>
                  <a:pt x="750094" y="719361"/>
                  <a:pt x="750094" y="841251"/>
                </a:cubicBezTo>
                <a:cubicBezTo>
                  <a:pt x="750094" y="867470"/>
                  <a:pt x="728737" y="888826"/>
                  <a:pt x="702518" y="888826"/>
                </a:cubicBezTo>
                <a:lnTo>
                  <a:pt x="75357" y="889000"/>
                </a:lnTo>
                <a:cubicBezTo>
                  <a:pt x="49138" y="889000"/>
                  <a:pt x="27781" y="867643"/>
                  <a:pt x="27781" y="841425"/>
                </a:cubicBezTo>
                <a:cubicBezTo>
                  <a:pt x="27781" y="719534"/>
                  <a:pt x="104180" y="615355"/>
                  <a:pt x="211658" y="574377"/>
                </a:cubicBezTo>
                <a:cubicBezTo>
                  <a:pt x="226244" y="568821"/>
                  <a:pt x="241697" y="578024"/>
                  <a:pt x="245517" y="593130"/>
                </a:cubicBezTo>
                <a:lnTo>
                  <a:pt x="305594" y="833611"/>
                </a:lnTo>
                <a:lnTo>
                  <a:pt x="306636" y="833611"/>
                </a:lnTo>
                <a:lnTo>
                  <a:pt x="360462" y="633760"/>
                </a:lnTo>
                <a:lnTo>
                  <a:pt x="312886" y="578197"/>
                </a:lnTo>
                <a:cubicBezTo>
                  <a:pt x="308198" y="572641"/>
                  <a:pt x="305594" y="565696"/>
                  <a:pt x="305594" y="558403"/>
                </a:cubicBezTo>
                <a:cubicBezTo>
                  <a:pt x="305594" y="541561"/>
                  <a:pt x="319137" y="528017"/>
                  <a:pt x="335979" y="528017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24400" y="3810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Saif Ali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24400" y="4254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MDB25044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76900" y="4762500"/>
            <a:ext cx="1143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4724400" y="50165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Management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Operations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93100" y="2032000"/>
            <a:ext cx="3429000" cy="5334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9" name="Shape 17"/>
          <p:cNvSpPr/>
          <p:nvPr/>
        </p:nvSpPr>
        <p:spPr>
          <a:xfrm>
            <a:off x="9618663" y="2540000"/>
            <a:ext cx="777875" cy="889000"/>
          </a:xfrm>
          <a:custGeom>
            <a:avLst/>
            <a:gdLst/>
            <a:ahLst/>
            <a:cxnLst/>
            <a:rect l="l" t="t" r="r" b="b"/>
            <a:pathLst>
              <a:path w="777875" h="889000">
                <a:moveTo>
                  <a:pt x="388938" y="430609"/>
                </a:moveTo>
                <a:cubicBezTo>
                  <a:pt x="273941" y="430609"/>
                  <a:pt x="180578" y="337247"/>
                  <a:pt x="180578" y="222250"/>
                </a:cubicBezTo>
                <a:cubicBezTo>
                  <a:pt x="180578" y="107253"/>
                  <a:pt x="273941" y="13891"/>
                  <a:pt x="388937" y="13891"/>
                </a:cubicBezTo>
                <a:cubicBezTo>
                  <a:pt x="503934" y="13891"/>
                  <a:pt x="597297" y="107253"/>
                  <a:pt x="597297" y="222250"/>
                </a:cubicBezTo>
                <a:cubicBezTo>
                  <a:pt x="597297" y="337247"/>
                  <a:pt x="503934" y="430609"/>
                  <a:pt x="388938" y="430609"/>
                </a:cubicBezTo>
                <a:close/>
                <a:moveTo>
                  <a:pt x="335979" y="527844"/>
                </a:moveTo>
                <a:lnTo>
                  <a:pt x="441896" y="527844"/>
                </a:lnTo>
                <a:cubicBezTo>
                  <a:pt x="458738" y="527844"/>
                  <a:pt x="472281" y="541387"/>
                  <a:pt x="472281" y="558229"/>
                </a:cubicBezTo>
                <a:cubicBezTo>
                  <a:pt x="472281" y="565522"/>
                  <a:pt x="469677" y="572467"/>
                  <a:pt x="464989" y="578024"/>
                </a:cubicBezTo>
                <a:lnTo>
                  <a:pt x="417413" y="633586"/>
                </a:lnTo>
                <a:lnTo>
                  <a:pt x="471239" y="833438"/>
                </a:lnTo>
                <a:lnTo>
                  <a:pt x="472281" y="833438"/>
                </a:lnTo>
                <a:lnTo>
                  <a:pt x="532358" y="592956"/>
                </a:lnTo>
                <a:cubicBezTo>
                  <a:pt x="536178" y="577850"/>
                  <a:pt x="551631" y="568647"/>
                  <a:pt x="566217" y="574204"/>
                </a:cubicBezTo>
                <a:cubicBezTo>
                  <a:pt x="673695" y="615181"/>
                  <a:pt x="750094" y="719361"/>
                  <a:pt x="750094" y="841251"/>
                </a:cubicBezTo>
                <a:cubicBezTo>
                  <a:pt x="750094" y="867470"/>
                  <a:pt x="728737" y="888826"/>
                  <a:pt x="702518" y="888826"/>
                </a:cubicBezTo>
                <a:lnTo>
                  <a:pt x="75357" y="889000"/>
                </a:lnTo>
                <a:cubicBezTo>
                  <a:pt x="49138" y="889000"/>
                  <a:pt x="27781" y="867643"/>
                  <a:pt x="27781" y="841425"/>
                </a:cubicBezTo>
                <a:cubicBezTo>
                  <a:pt x="27781" y="719534"/>
                  <a:pt x="104180" y="615355"/>
                  <a:pt x="211658" y="574377"/>
                </a:cubicBezTo>
                <a:cubicBezTo>
                  <a:pt x="226244" y="568821"/>
                  <a:pt x="241697" y="578024"/>
                  <a:pt x="245517" y="593130"/>
                </a:cubicBezTo>
                <a:lnTo>
                  <a:pt x="305594" y="833611"/>
                </a:lnTo>
                <a:lnTo>
                  <a:pt x="306636" y="833611"/>
                </a:lnTo>
                <a:lnTo>
                  <a:pt x="360462" y="633760"/>
                </a:lnTo>
                <a:lnTo>
                  <a:pt x="312886" y="578197"/>
                </a:lnTo>
                <a:cubicBezTo>
                  <a:pt x="308198" y="572641"/>
                  <a:pt x="305594" y="565696"/>
                  <a:pt x="305594" y="558403"/>
                </a:cubicBezTo>
                <a:cubicBezTo>
                  <a:pt x="305594" y="541561"/>
                  <a:pt x="319137" y="528017"/>
                  <a:pt x="335979" y="528017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8483600" y="3810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Manavendra Singh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83600" y="4254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MDB25045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36100" y="4762500"/>
            <a:ext cx="1143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8483600" y="50165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R&amp;D Strategy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Product Development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065000" y="2032000"/>
            <a:ext cx="3429000" cy="5334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5" name="Shape 23"/>
          <p:cNvSpPr/>
          <p:nvPr/>
        </p:nvSpPr>
        <p:spPr>
          <a:xfrm>
            <a:off x="13390563" y="2540000"/>
            <a:ext cx="777875" cy="889000"/>
          </a:xfrm>
          <a:custGeom>
            <a:avLst/>
            <a:gdLst/>
            <a:ahLst/>
            <a:cxnLst/>
            <a:rect l="l" t="t" r="r" b="b"/>
            <a:pathLst>
              <a:path w="777875" h="889000">
                <a:moveTo>
                  <a:pt x="388938" y="430609"/>
                </a:moveTo>
                <a:cubicBezTo>
                  <a:pt x="273941" y="430609"/>
                  <a:pt x="180578" y="337247"/>
                  <a:pt x="180578" y="222250"/>
                </a:cubicBezTo>
                <a:cubicBezTo>
                  <a:pt x="180578" y="107253"/>
                  <a:pt x="273941" y="13891"/>
                  <a:pt x="388937" y="13891"/>
                </a:cubicBezTo>
                <a:cubicBezTo>
                  <a:pt x="503934" y="13891"/>
                  <a:pt x="597297" y="107253"/>
                  <a:pt x="597297" y="222250"/>
                </a:cubicBezTo>
                <a:cubicBezTo>
                  <a:pt x="597297" y="337247"/>
                  <a:pt x="503934" y="430609"/>
                  <a:pt x="388938" y="430609"/>
                </a:cubicBezTo>
                <a:close/>
                <a:moveTo>
                  <a:pt x="335979" y="527844"/>
                </a:moveTo>
                <a:lnTo>
                  <a:pt x="441896" y="527844"/>
                </a:lnTo>
                <a:cubicBezTo>
                  <a:pt x="458738" y="527844"/>
                  <a:pt x="472281" y="541387"/>
                  <a:pt x="472281" y="558229"/>
                </a:cubicBezTo>
                <a:cubicBezTo>
                  <a:pt x="472281" y="565522"/>
                  <a:pt x="469677" y="572467"/>
                  <a:pt x="464989" y="578024"/>
                </a:cubicBezTo>
                <a:lnTo>
                  <a:pt x="417413" y="633586"/>
                </a:lnTo>
                <a:lnTo>
                  <a:pt x="471239" y="833438"/>
                </a:lnTo>
                <a:lnTo>
                  <a:pt x="472281" y="833438"/>
                </a:lnTo>
                <a:lnTo>
                  <a:pt x="532358" y="592956"/>
                </a:lnTo>
                <a:cubicBezTo>
                  <a:pt x="536178" y="577850"/>
                  <a:pt x="551631" y="568647"/>
                  <a:pt x="566217" y="574204"/>
                </a:cubicBezTo>
                <a:cubicBezTo>
                  <a:pt x="673695" y="615181"/>
                  <a:pt x="750094" y="719361"/>
                  <a:pt x="750094" y="841251"/>
                </a:cubicBezTo>
                <a:cubicBezTo>
                  <a:pt x="750094" y="867470"/>
                  <a:pt x="728737" y="888826"/>
                  <a:pt x="702518" y="888826"/>
                </a:cubicBezTo>
                <a:lnTo>
                  <a:pt x="75357" y="889000"/>
                </a:lnTo>
                <a:cubicBezTo>
                  <a:pt x="49138" y="889000"/>
                  <a:pt x="27781" y="867643"/>
                  <a:pt x="27781" y="841425"/>
                </a:cubicBezTo>
                <a:cubicBezTo>
                  <a:pt x="27781" y="719534"/>
                  <a:pt x="104180" y="615355"/>
                  <a:pt x="211658" y="574377"/>
                </a:cubicBezTo>
                <a:cubicBezTo>
                  <a:pt x="226244" y="568821"/>
                  <a:pt x="241697" y="578024"/>
                  <a:pt x="245517" y="593130"/>
                </a:cubicBezTo>
                <a:lnTo>
                  <a:pt x="305594" y="833611"/>
                </a:lnTo>
                <a:lnTo>
                  <a:pt x="306636" y="833611"/>
                </a:lnTo>
                <a:lnTo>
                  <a:pt x="360462" y="633760"/>
                </a:lnTo>
                <a:lnTo>
                  <a:pt x="312886" y="578197"/>
                </a:lnTo>
                <a:cubicBezTo>
                  <a:pt x="308198" y="572641"/>
                  <a:pt x="305594" y="565696"/>
                  <a:pt x="305594" y="558403"/>
                </a:cubicBezTo>
                <a:cubicBezTo>
                  <a:pt x="305594" y="541561"/>
                  <a:pt x="319137" y="528017"/>
                  <a:pt x="335979" y="528017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2255500" y="3810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Aabda Khatoon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255500" y="4254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MDB25046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208000" y="4762500"/>
            <a:ext cx="1143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9" name="Text 27"/>
          <p:cNvSpPr/>
          <p:nvPr/>
        </p:nvSpPr>
        <p:spPr>
          <a:xfrm>
            <a:off x="12255500" y="50165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Strategy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Market Research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8788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 NAVY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2" name="Text 30"/>
          <p:cNvSpPr/>
          <p:nvPr/>
        </p:nvSpPr>
        <p:spPr>
          <a:xfrm>
            <a:off x="14859000" y="87884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Company Background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930400"/>
            <a:ext cx="635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159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Our company operates across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continents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USA, Europe, and Asia — with core competencies in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R&amp;D, production, and marketing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a landscape of rising competition and rapid technological change, we prioritized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innovation, adaptation, and expansion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maintain industry leadership.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495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OPERATING REGIONS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2000" y="5334000"/>
            <a:ext cx="2032000" cy="635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5334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84500" y="5334000"/>
            <a:ext cx="2032000" cy="635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984500" y="5334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EUROPE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07000" y="5334000"/>
            <a:ext cx="2032000" cy="635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207000" y="5334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STRATEGIC OBJECTIVES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1930400"/>
            <a:ext cx="635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2225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17000" y="2222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financial stability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maintaining profitability across all operating regions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31115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17000" y="3111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 shareholder value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drive sustainable long-term growth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40005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17000" y="4000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market share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stronger competitive positioning in all regions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48895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17000" y="4889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production costs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ensuring premium product quality standards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788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 NAVY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7" name="Text 25"/>
          <p:cNvSpPr/>
          <p:nvPr/>
        </p:nvSpPr>
        <p:spPr>
          <a:xfrm>
            <a:off x="14859000" y="87884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d3iquguxr6r4/mnt/agents/output/team-navy-capstone/images/6_Digital_dashboard_displays_fluctuating.png">    </p:cNvPr>
          <p:cNvPicPr>
            <a:picLocks noChangeAspect="1"/>
          </p:cNvPicPr>
          <p:nvPr/>
        </p:nvPicPr>
        <p:blipFill>
          <a:blip r:embed="rId1"/>
          <a:srcRect l="0" r="0" t="7812" b="7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D32">
                  <a:alpha val="95000"/>
                </a:srgbClr>
              </a:gs>
              <a:gs pos="60000">
                <a:srgbClr val="0F1D32">
                  <a:alpha val="80000"/>
                </a:srgbClr>
              </a:gs>
              <a:gs pos="100000">
                <a:srgbClr val="0F1D32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016000" cy="381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PERFORMANCE SNAPSHOT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results, market position, and operational metrics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Metrics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5200" y="114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 of core business performance indicators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32000"/>
            <a:ext cx="4572000" cy="4826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7" name="Shape 5"/>
          <p:cNvSpPr/>
          <p:nvPr/>
        </p:nvSpPr>
        <p:spPr>
          <a:xfrm>
            <a:off x="984250" y="2349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508397" y="238125"/>
                </a:moveTo>
                <a:lnTo>
                  <a:pt x="333772" y="238125"/>
                </a:lnTo>
                <a:cubicBezTo>
                  <a:pt x="316210" y="238125"/>
                  <a:pt x="302022" y="223937"/>
                  <a:pt x="302022" y="206375"/>
                </a:cubicBezTo>
                <a:lnTo>
                  <a:pt x="302022" y="31750"/>
                </a:lnTo>
                <a:cubicBezTo>
                  <a:pt x="302022" y="14188"/>
                  <a:pt x="316309" y="-198"/>
                  <a:pt x="333673" y="2084"/>
                </a:cubicBezTo>
                <a:cubicBezTo>
                  <a:pt x="439837" y="16173"/>
                  <a:pt x="523974" y="100310"/>
                  <a:pt x="538063" y="206474"/>
                </a:cubicBezTo>
                <a:cubicBezTo>
                  <a:pt x="540345" y="223838"/>
                  <a:pt x="525959" y="238125"/>
                  <a:pt x="508397" y="238125"/>
                </a:cubicBezTo>
                <a:close/>
                <a:moveTo>
                  <a:pt x="220861" y="36909"/>
                </a:moveTo>
                <a:cubicBezTo>
                  <a:pt x="238820" y="33139"/>
                  <a:pt x="254397" y="47823"/>
                  <a:pt x="254397" y="66179"/>
                </a:cubicBezTo>
                <a:lnTo>
                  <a:pt x="254397" y="261937"/>
                </a:lnTo>
                <a:cubicBezTo>
                  <a:pt x="254397" y="267494"/>
                  <a:pt x="256381" y="272852"/>
                  <a:pt x="259854" y="277118"/>
                </a:cubicBezTo>
                <a:lnTo>
                  <a:pt x="390922" y="435273"/>
                </a:lnTo>
                <a:cubicBezTo>
                  <a:pt x="402530" y="449263"/>
                  <a:pt x="400050" y="470396"/>
                  <a:pt x="384076" y="479028"/>
                </a:cubicBezTo>
                <a:cubicBezTo>
                  <a:pt x="350242" y="497483"/>
                  <a:pt x="311448" y="508000"/>
                  <a:pt x="270272" y="508000"/>
                </a:cubicBezTo>
                <a:cubicBezTo>
                  <a:pt x="138807" y="508000"/>
                  <a:pt x="32147" y="401340"/>
                  <a:pt x="32147" y="269875"/>
                </a:cubicBezTo>
                <a:cubicBezTo>
                  <a:pt x="32147" y="155277"/>
                  <a:pt x="113010" y="59630"/>
                  <a:pt x="220861" y="36909"/>
                </a:cubicBezTo>
                <a:close/>
                <a:moveTo>
                  <a:pt x="474067" y="285750"/>
                </a:moveTo>
                <a:lnTo>
                  <a:pt x="537567" y="285750"/>
                </a:lnTo>
                <a:cubicBezTo>
                  <a:pt x="555923" y="285750"/>
                  <a:pt x="570607" y="301327"/>
                  <a:pt x="566837" y="319286"/>
                </a:cubicBezTo>
                <a:cubicBezTo>
                  <a:pt x="556716" y="367308"/>
                  <a:pt x="532110" y="409972"/>
                  <a:pt x="497780" y="442516"/>
                </a:cubicBezTo>
                <a:cubicBezTo>
                  <a:pt x="485577" y="454124"/>
                  <a:pt x="466427" y="451644"/>
                  <a:pt x="455712" y="438646"/>
                </a:cubicBezTo>
                <a:lnTo>
                  <a:pt x="371971" y="337741"/>
                </a:lnTo>
                <a:cubicBezTo>
                  <a:pt x="354806" y="317004"/>
                  <a:pt x="369590" y="285750"/>
                  <a:pt x="396379" y="285750"/>
                </a:cubicBezTo>
                <a:lnTo>
                  <a:pt x="473968" y="285750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111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MARKET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6000" y="35560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12.52%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016000" y="4699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market share captured across all operating regions and technology segments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5842000"/>
            <a:ext cx="4064000" cy="508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2" name="Shape 10"/>
          <p:cNvSpPr/>
          <p:nvPr/>
        </p:nvSpPr>
        <p:spPr>
          <a:xfrm>
            <a:off x="5842000" y="2032000"/>
            <a:ext cx="4572000" cy="4826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1250" y="2349500"/>
            <a:ext cx="317500" cy="508000"/>
          </a:xfrm>
          <a:custGeom>
            <a:avLst/>
            <a:gdLst/>
            <a:ahLst/>
            <a:cxnLst/>
            <a:rect l="l" t="t" r="r" b="b"/>
            <a:pathLst>
              <a:path w="317500" h="508000">
                <a:moveTo>
                  <a:pt x="134938" y="23812"/>
                </a:moveTo>
                <a:cubicBezTo>
                  <a:pt x="134938" y="10616"/>
                  <a:pt x="145554" y="0"/>
                  <a:pt x="158750" y="0"/>
                </a:cubicBezTo>
                <a:cubicBezTo>
                  <a:pt x="171946" y="0"/>
                  <a:pt x="182563" y="10616"/>
                  <a:pt x="182563" y="23812"/>
                </a:cubicBezTo>
                <a:lnTo>
                  <a:pt x="182563" y="63500"/>
                </a:lnTo>
                <a:lnTo>
                  <a:pt x="238125" y="63500"/>
                </a:lnTo>
                <a:cubicBezTo>
                  <a:pt x="255687" y="63500"/>
                  <a:pt x="269875" y="77688"/>
                  <a:pt x="269875" y="95250"/>
                </a:cubicBezTo>
                <a:cubicBezTo>
                  <a:pt x="269875" y="112812"/>
                  <a:pt x="255687" y="127000"/>
                  <a:pt x="238125" y="127000"/>
                </a:cubicBezTo>
                <a:lnTo>
                  <a:pt x="124123" y="127000"/>
                </a:lnTo>
                <a:cubicBezTo>
                  <a:pt x="99417" y="127000"/>
                  <a:pt x="79375" y="147042"/>
                  <a:pt x="79375" y="171748"/>
                </a:cubicBezTo>
                <a:cubicBezTo>
                  <a:pt x="79375" y="194072"/>
                  <a:pt x="95746" y="212923"/>
                  <a:pt x="117773" y="216098"/>
                </a:cubicBezTo>
                <a:lnTo>
                  <a:pt x="208657" y="229096"/>
                </a:lnTo>
                <a:cubicBezTo>
                  <a:pt x="262037" y="236736"/>
                  <a:pt x="301625" y="282377"/>
                  <a:pt x="301625" y="336252"/>
                </a:cubicBezTo>
                <a:cubicBezTo>
                  <a:pt x="301625" y="396081"/>
                  <a:pt x="253107" y="444500"/>
                  <a:pt x="193377" y="444500"/>
                </a:cubicBezTo>
                <a:lnTo>
                  <a:pt x="182563" y="444500"/>
                </a:lnTo>
                <a:lnTo>
                  <a:pt x="182563" y="484187"/>
                </a:lnTo>
                <a:cubicBezTo>
                  <a:pt x="182563" y="497384"/>
                  <a:pt x="171946" y="508000"/>
                  <a:pt x="158750" y="508000"/>
                </a:cubicBezTo>
                <a:cubicBezTo>
                  <a:pt x="145554" y="508000"/>
                  <a:pt x="134938" y="497384"/>
                  <a:pt x="134938" y="484187"/>
                </a:cubicBezTo>
                <a:lnTo>
                  <a:pt x="134938" y="444500"/>
                </a:lnTo>
                <a:lnTo>
                  <a:pt x="63500" y="444500"/>
                </a:lnTo>
                <a:cubicBezTo>
                  <a:pt x="45938" y="444500"/>
                  <a:pt x="31750" y="430312"/>
                  <a:pt x="31750" y="412750"/>
                </a:cubicBezTo>
                <a:cubicBezTo>
                  <a:pt x="31750" y="395188"/>
                  <a:pt x="45938" y="381000"/>
                  <a:pt x="63500" y="381000"/>
                </a:cubicBezTo>
                <a:lnTo>
                  <a:pt x="193377" y="381000"/>
                </a:lnTo>
                <a:cubicBezTo>
                  <a:pt x="218083" y="381000"/>
                  <a:pt x="238125" y="360958"/>
                  <a:pt x="238125" y="336252"/>
                </a:cubicBezTo>
                <a:cubicBezTo>
                  <a:pt x="238125" y="313928"/>
                  <a:pt x="221754" y="295077"/>
                  <a:pt x="199727" y="291902"/>
                </a:cubicBezTo>
                <a:lnTo>
                  <a:pt x="108843" y="278904"/>
                </a:lnTo>
                <a:cubicBezTo>
                  <a:pt x="55463" y="271363"/>
                  <a:pt x="15875" y="225623"/>
                  <a:pt x="15875" y="171748"/>
                </a:cubicBezTo>
                <a:cubicBezTo>
                  <a:pt x="15875" y="112018"/>
                  <a:pt x="64393" y="63500"/>
                  <a:pt x="124123" y="63500"/>
                </a:cubicBezTo>
                <a:lnTo>
                  <a:pt x="134938" y="63500"/>
                </a:lnTo>
                <a:lnTo>
                  <a:pt x="134938" y="23812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0" y="3111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SALES REVENUE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6000" y="35560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$3.45M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096000" y="4699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 generated from product sales across USA, Europe, and Asian markets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0" y="5842000"/>
            <a:ext cx="4064000" cy="508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22000" y="2032000"/>
            <a:ext cx="4572000" cy="4826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44250" y="2349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-15875"/>
                </a:moveTo>
                <a:cubicBezTo>
                  <a:pt x="272554" y="-15875"/>
                  <a:pt x="261937" y="-5259"/>
                  <a:pt x="261937" y="7938"/>
                </a:cubicBezTo>
                <a:lnTo>
                  <a:pt x="261937" y="19844"/>
                </a:lnTo>
                <a:lnTo>
                  <a:pt x="260152" y="19844"/>
                </a:lnTo>
                <a:cubicBezTo>
                  <a:pt x="223838" y="19844"/>
                  <a:pt x="194469" y="49312"/>
                  <a:pt x="194469" y="85527"/>
                </a:cubicBezTo>
                <a:cubicBezTo>
                  <a:pt x="194469" y="118666"/>
                  <a:pt x="219174" y="146645"/>
                  <a:pt x="252016" y="150713"/>
                </a:cubicBezTo>
                <a:lnTo>
                  <a:pt x="312539" y="158254"/>
                </a:lnTo>
                <a:cubicBezTo>
                  <a:pt x="317599" y="158849"/>
                  <a:pt x="321469" y="163215"/>
                  <a:pt x="321469" y="168374"/>
                </a:cubicBezTo>
                <a:cubicBezTo>
                  <a:pt x="321469" y="174030"/>
                  <a:pt x="316905" y="178495"/>
                  <a:pt x="311348" y="178495"/>
                </a:cubicBezTo>
                <a:lnTo>
                  <a:pt x="238125" y="178594"/>
                </a:lnTo>
                <a:cubicBezTo>
                  <a:pt x="222746" y="178594"/>
                  <a:pt x="210344" y="190996"/>
                  <a:pt x="210344" y="206375"/>
                </a:cubicBezTo>
                <a:cubicBezTo>
                  <a:pt x="210344" y="221754"/>
                  <a:pt x="222746" y="234156"/>
                  <a:pt x="238125" y="234156"/>
                </a:cubicBezTo>
                <a:lnTo>
                  <a:pt x="261937" y="234156"/>
                </a:lnTo>
                <a:lnTo>
                  <a:pt x="261937" y="246063"/>
                </a:lnTo>
                <a:cubicBezTo>
                  <a:pt x="261937" y="259259"/>
                  <a:pt x="272554" y="269875"/>
                  <a:pt x="285750" y="269875"/>
                </a:cubicBezTo>
                <a:cubicBezTo>
                  <a:pt x="298946" y="269875"/>
                  <a:pt x="309562" y="259259"/>
                  <a:pt x="309562" y="246063"/>
                </a:cubicBezTo>
                <a:lnTo>
                  <a:pt x="309562" y="234156"/>
                </a:lnTo>
                <a:lnTo>
                  <a:pt x="311348" y="234156"/>
                </a:lnTo>
                <a:cubicBezTo>
                  <a:pt x="347663" y="234156"/>
                  <a:pt x="377031" y="204688"/>
                  <a:pt x="377031" y="168473"/>
                </a:cubicBezTo>
                <a:cubicBezTo>
                  <a:pt x="377031" y="135334"/>
                  <a:pt x="352326" y="107355"/>
                  <a:pt x="319484" y="103287"/>
                </a:cubicBezTo>
                <a:lnTo>
                  <a:pt x="258961" y="95746"/>
                </a:lnTo>
                <a:cubicBezTo>
                  <a:pt x="253901" y="95151"/>
                  <a:pt x="250031" y="90785"/>
                  <a:pt x="250031" y="85626"/>
                </a:cubicBezTo>
                <a:cubicBezTo>
                  <a:pt x="250031" y="79970"/>
                  <a:pt x="254595" y="75505"/>
                  <a:pt x="260152" y="75505"/>
                </a:cubicBezTo>
                <a:lnTo>
                  <a:pt x="325438" y="75406"/>
                </a:lnTo>
                <a:cubicBezTo>
                  <a:pt x="340816" y="75406"/>
                  <a:pt x="353219" y="63004"/>
                  <a:pt x="353219" y="47625"/>
                </a:cubicBezTo>
                <a:cubicBezTo>
                  <a:pt x="353219" y="32246"/>
                  <a:pt x="340816" y="19844"/>
                  <a:pt x="325438" y="19844"/>
                </a:cubicBezTo>
                <a:lnTo>
                  <a:pt x="309562" y="19844"/>
                </a:lnTo>
                <a:lnTo>
                  <a:pt x="309562" y="7938"/>
                </a:lnTo>
                <a:cubicBezTo>
                  <a:pt x="309562" y="-5259"/>
                  <a:pt x="298946" y="-15875"/>
                  <a:pt x="285750" y="-15875"/>
                </a:cubicBezTo>
                <a:close/>
                <a:moveTo>
                  <a:pt x="108446" y="338832"/>
                </a:moveTo>
                <a:lnTo>
                  <a:pt x="66179" y="381000"/>
                </a:lnTo>
                <a:lnTo>
                  <a:pt x="31750" y="381000"/>
                </a:lnTo>
                <a:cubicBezTo>
                  <a:pt x="14188" y="381000"/>
                  <a:pt x="0" y="395188"/>
                  <a:pt x="0" y="412750"/>
                </a:cubicBezTo>
                <a:lnTo>
                  <a:pt x="0" y="476250"/>
                </a:lnTo>
                <a:cubicBezTo>
                  <a:pt x="0" y="493812"/>
                  <a:pt x="14188" y="508000"/>
                  <a:pt x="31750" y="508000"/>
                </a:cubicBezTo>
                <a:lnTo>
                  <a:pt x="349746" y="508000"/>
                </a:lnTo>
                <a:cubicBezTo>
                  <a:pt x="378520" y="508000"/>
                  <a:pt x="406598" y="498773"/>
                  <a:pt x="429816" y="481707"/>
                </a:cubicBezTo>
                <a:lnTo>
                  <a:pt x="555427" y="389136"/>
                </a:lnTo>
                <a:cubicBezTo>
                  <a:pt x="573087" y="376138"/>
                  <a:pt x="576858" y="351334"/>
                  <a:pt x="563860" y="333673"/>
                </a:cubicBezTo>
                <a:cubicBezTo>
                  <a:pt x="550862" y="316012"/>
                  <a:pt x="526058" y="312241"/>
                  <a:pt x="508397" y="325239"/>
                </a:cubicBezTo>
                <a:lnTo>
                  <a:pt x="389533" y="412750"/>
                </a:lnTo>
                <a:lnTo>
                  <a:pt x="277813" y="412750"/>
                </a:lnTo>
                <a:cubicBezTo>
                  <a:pt x="264616" y="412750"/>
                  <a:pt x="254000" y="402134"/>
                  <a:pt x="254000" y="388938"/>
                </a:cubicBezTo>
                <a:cubicBezTo>
                  <a:pt x="254000" y="375741"/>
                  <a:pt x="264616" y="365125"/>
                  <a:pt x="277813" y="365125"/>
                </a:cubicBezTo>
                <a:lnTo>
                  <a:pt x="349250" y="365125"/>
                </a:lnTo>
                <a:cubicBezTo>
                  <a:pt x="366812" y="365125"/>
                  <a:pt x="381000" y="350937"/>
                  <a:pt x="381000" y="333375"/>
                </a:cubicBezTo>
                <a:cubicBezTo>
                  <a:pt x="381000" y="315813"/>
                  <a:pt x="366812" y="301625"/>
                  <a:pt x="349250" y="301625"/>
                </a:cubicBezTo>
                <a:lnTo>
                  <a:pt x="198239" y="301625"/>
                </a:lnTo>
                <a:cubicBezTo>
                  <a:pt x="164604" y="301625"/>
                  <a:pt x="132259" y="315020"/>
                  <a:pt x="108446" y="338832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20" name="Text 18"/>
          <p:cNvSpPr/>
          <p:nvPr/>
        </p:nvSpPr>
        <p:spPr>
          <a:xfrm>
            <a:off x="11176000" y="3111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PROFIT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76000" y="35560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$1.429M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11176000" y="4699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profit achieved through disciplined cost management and strategic pricing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176000" y="5842000"/>
            <a:ext cx="4064000" cy="508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7239000"/>
            <a:ext cx="14732000" cy="762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7239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41.4% profit margin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demonstrates strong operational efficiency and pricing power across all markets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788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 NAVY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8" name="Text 26"/>
          <p:cNvSpPr/>
          <p:nvPr/>
        </p:nvSpPr>
        <p:spPr>
          <a:xfrm>
            <a:off x="14859000" y="87884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Global Profit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5200" y="114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Profit breakdown by geographic region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762000" y="1905000"/>
          <a:ext cx="8890000" cy="533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0160000" y="203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REGIONAL INSIGHTS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0" y="24511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9" name="Shape 6"/>
          <p:cNvSpPr/>
          <p:nvPr/>
        </p:nvSpPr>
        <p:spPr>
          <a:xfrm>
            <a:off x="10137775" y="279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11125"/>
                </a:moveTo>
                <a:cubicBezTo>
                  <a:pt x="254407" y="111125"/>
                  <a:pt x="244475" y="101193"/>
                  <a:pt x="244475" y="88900"/>
                </a:cubicBezTo>
                <a:cubicBezTo>
                  <a:pt x="244475" y="76607"/>
                  <a:pt x="254407" y="66675"/>
                  <a:pt x="266700" y="66675"/>
                </a:cubicBezTo>
                <a:lnTo>
                  <a:pt x="377825" y="66675"/>
                </a:lnTo>
                <a:cubicBezTo>
                  <a:pt x="390118" y="66675"/>
                  <a:pt x="400050" y="76607"/>
                  <a:pt x="400050" y="88900"/>
                </a:cubicBezTo>
                <a:lnTo>
                  <a:pt x="400050" y="200025"/>
                </a:lnTo>
                <a:cubicBezTo>
                  <a:pt x="400050" y="212318"/>
                  <a:pt x="390118" y="222250"/>
                  <a:pt x="377825" y="222250"/>
                </a:cubicBezTo>
                <a:cubicBezTo>
                  <a:pt x="365532" y="222250"/>
                  <a:pt x="355600" y="212318"/>
                  <a:pt x="355600" y="200025"/>
                </a:cubicBezTo>
                <a:lnTo>
                  <a:pt x="355600" y="142587"/>
                </a:lnTo>
                <a:lnTo>
                  <a:pt x="237946" y="260241"/>
                </a:lnTo>
                <a:cubicBezTo>
                  <a:pt x="229265" y="268923"/>
                  <a:pt x="215166" y="268923"/>
                  <a:pt x="206484" y="260241"/>
                </a:cubicBezTo>
                <a:lnTo>
                  <a:pt x="133350" y="187037"/>
                </a:lnTo>
                <a:lnTo>
                  <a:pt x="37921" y="282396"/>
                </a:lnTo>
                <a:cubicBezTo>
                  <a:pt x="29240" y="291078"/>
                  <a:pt x="15141" y="291078"/>
                  <a:pt x="6459" y="282396"/>
                </a:cubicBezTo>
                <a:cubicBezTo>
                  <a:pt x="-2222" y="273715"/>
                  <a:pt x="-2222" y="259616"/>
                  <a:pt x="6459" y="250934"/>
                </a:cubicBezTo>
                <a:lnTo>
                  <a:pt x="117584" y="139809"/>
                </a:lnTo>
                <a:cubicBezTo>
                  <a:pt x="126266" y="131128"/>
                  <a:pt x="140365" y="131128"/>
                  <a:pt x="149046" y="139809"/>
                </a:cubicBezTo>
                <a:lnTo>
                  <a:pt x="222250" y="213013"/>
                </a:lnTo>
                <a:lnTo>
                  <a:pt x="324138" y="111125"/>
                </a:lnTo>
                <a:lnTo>
                  <a:pt x="266700" y="111125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0" name="Text 7"/>
          <p:cNvSpPr/>
          <p:nvPr/>
        </p:nvSpPr>
        <p:spPr>
          <a:xfrm>
            <a:off x="10668000" y="2794000"/>
            <a:ext cx="482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Asia — Top Performer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160000" y="32385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profit contribution at $0.68M, driven by monopoly positions in Tech 1 and Tech 4 segments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115550" y="4191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66700" y="22225"/>
                </a:moveTo>
                <a:lnTo>
                  <a:pt x="355600" y="22225"/>
                </a:lnTo>
                <a:cubicBezTo>
                  <a:pt x="367893" y="22225"/>
                  <a:pt x="377825" y="32157"/>
                  <a:pt x="377825" y="44450"/>
                </a:cubicBezTo>
                <a:cubicBezTo>
                  <a:pt x="377825" y="56743"/>
                  <a:pt x="367893" y="66675"/>
                  <a:pt x="355600" y="66675"/>
                </a:cubicBezTo>
                <a:lnTo>
                  <a:pt x="276701" y="66675"/>
                </a:lnTo>
                <a:cubicBezTo>
                  <a:pt x="273090" y="84594"/>
                  <a:pt x="260796" y="99387"/>
                  <a:pt x="244475" y="106472"/>
                </a:cubicBezTo>
                <a:lnTo>
                  <a:pt x="244475" y="311150"/>
                </a:lnTo>
                <a:lnTo>
                  <a:pt x="355600" y="311150"/>
                </a:lnTo>
                <a:cubicBezTo>
                  <a:pt x="367893" y="311150"/>
                  <a:pt x="377825" y="321082"/>
                  <a:pt x="377825" y="333375"/>
                </a:cubicBezTo>
                <a:cubicBezTo>
                  <a:pt x="377825" y="345668"/>
                  <a:pt x="367893" y="355600"/>
                  <a:pt x="355600" y="355600"/>
                </a:cubicBezTo>
                <a:lnTo>
                  <a:pt x="88900" y="355600"/>
                </a:lnTo>
                <a:cubicBezTo>
                  <a:pt x="76607" y="355600"/>
                  <a:pt x="66675" y="345668"/>
                  <a:pt x="66675" y="333375"/>
                </a:cubicBezTo>
                <a:cubicBezTo>
                  <a:pt x="66675" y="321082"/>
                  <a:pt x="76607" y="311150"/>
                  <a:pt x="88900" y="311150"/>
                </a:cubicBezTo>
                <a:lnTo>
                  <a:pt x="200025" y="311150"/>
                </a:lnTo>
                <a:lnTo>
                  <a:pt x="200025" y="106472"/>
                </a:lnTo>
                <a:cubicBezTo>
                  <a:pt x="183704" y="99318"/>
                  <a:pt x="171410" y="84524"/>
                  <a:pt x="167799" y="66675"/>
                </a:cubicBezTo>
                <a:lnTo>
                  <a:pt x="88900" y="66675"/>
                </a:lnTo>
                <a:cubicBezTo>
                  <a:pt x="76607" y="66675"/>
                  <a:pt x="66675" y="56743"/>
                  <a:pt x="66675" y="44450"/>
                </a:cubicBezTo>
                <a:cubicBezTo>
                  <a:pt x="66675" y="32157"/>
                  <a:pt x="76607" y="22225"/>
                  <a:pt x="88900" y="22225"/>
                </a:cubicBezTo>
                <a:lnTo>
                  <a:pt x="177800" y="22225"/>
                </a:lnTo>
                <a:cubicBezTo>
                  <a:pt x="187940" y="8751"/>
                  <a:pt x="204053" y="0"/>
                  <a:pt x="222250" y="0"/>
                </a:cubicBezTo>
                <a:cubicBezTo>
                  <a:pt x="240447" y="0"/>
                  <a:pt x="256560" y="8751"/>
                  <a:pt x="266700" y="22225"/>
                </a:cubicBezTo>
                <a:close/>
                <a:moveTo>
                  <a:pt x="305316" y="222250"/>
                </a:moveTo>
                <a:lnTo>
                  <a:pt x="405884" y="222250"/>
                </a:lnTo>
                <a:lnTo>
                  <a:pt x="355600" y="135989"/>
                </a:lnTo>
                <a:lnTo>
                  <a:pt x="305316" y="222250"/>
                </a:lnTo>
                <a:close/>
                <a:moveTo>
                  <a:pt x="355600" y="288925"/>
                </a:moveTo>
                <a:cubicBezTo>
                  <a:pt x="311914" y="288925"/>
                  <a:pt x="275590" y="265311"/>
                  <a:pt x="268089" y="234126"/>
                </a:cubicBezTo>
                <a:cubicBezTo>
                  <a:pt x="266283" y="226487"/>
                  <a:pt x="268784" y="218638"/>
                  <a:pt x="272742" y="211832"/>
                </a:cubicBezTo>
                <a:lnTo>
                  <a:pt x="338862" y="98485"/>
                </a:lnTo>
                <a:cubicBezTo>
                  <a:pt x="342334" y="92512"/>
                  <a:pt x="348724" y="88900"/>
                  <a:pt x="355600" y="88900"/>
                </a:cubicBezTo>
                <a:cubicBezTo>
                  <a:pt x="362476" y="88900"/>
                  <a:pt x="368866" y="92581"/>
                  <a:pt x="372338" y="98485"/>
                </a:cubicBezTo>
                <a:lnTo>
                  <a:pt x="438458" y="211832"/>
                </a:lnTo>
                <a:cubicBezTo>
                  <a:pt x="442416" y="218638"/>
                  <a:pt x="444917" y="226487"/>
                  <a:pt x="443111" y="234126"/>
                </a:cubicBezTo>
                <a:cubicBezTo>
                  <a:pt x="435610" y="265241"/>
                  <a:pt x="399286" y="288925"/>
                  <a:pt x="355600" y="288925"/>
                </a:cubicBezTo>
                <a:close/>
                <a:moveTo>
                  <a:pt x="88067" y="135989"/>
                </a:moveTo>
                <a:lnTo>
                  <a:pt x="37783" y="222250"/>
                </a:lnTo>
                <a:lnTo>
                  <a:pt x="138420" y="222250"/>
                </a:lnTo>
                <a:lnTo>
                  <a:pt x="88067" y="135989"/>
                </a:lnTo>
                <a:close/>
                <a:moveTo>
                  <a:pt x="625" y="234126"/>
                </a:moveTo>
                <a:cubicBezTo>
                  <a:pt x="-1181" y="226487"/>
                  <a:pt x="1320" y="218638"/>
                  <a:pt x="5278" y="211832"/>
                </a:cubicBezTo>
                <a:lnTo>
                  <a:pt x="71398" y="98485"/>
                </a:lnTo>
                <a:cubicBezTo>
                  <a:pt x="74870" y="92512"/>
                  <a:pt x="81260" y="88900"/>
                  <a:pt x="88136" y="88900"/>
                </a:cubicBezTo>
                <a:cubicBezTo>
                  <a:pt x="95012" y="88900"/>
                  <a:pt x="101402" y="92581"/>
                  <a:pt x="104874" y="98485"/>
                </a:cubicBezTo>
                <a:lnTo>
                  <a:pt x="170994" y="211832"/>
                </a:lnTo>
                <a:cubicBezTo>
                  <a:pt x="174952" y="218638"/>
                  <a:pt x="177453" y="226487"/>
                  <a:pt x="175647" y="234126"/>
                </a:cubicBezTo>
                <a:cubicBezTo>
                  <a:pt x="168146" y="265241"/>
                  <a:pt x="131822" y="288925"/>
                  <a:pt x="88136" y="288925"/>
                </a:cubicBezTo>
                <a:cubicBezTo>
                  <a:pt x="44450" y="288925"/>
                  <a:pt x="8126" y="265311"/>
                  <a:pt x="625" y="234126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3" name="Text 10"/>
          <p:cNvSpPr/>
          <p:nvPr/>
        </p:nvSpPr>
        <p:spPr>
          <a:xfrm>
            <a:off x="10668000" y="4191000"/>
            <a:ext cx="482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 — Stable Growth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160000" y="46355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Solid profit of $0.52M from early market prioritization and capital-efficient operations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160000" y="558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6" name="Text 13"/>
          <p:cNvSpPr/>
          <p:nvPr/>
        </p:nvSpPr>
        <p:spPr>
          <a:xfrm>
            <a:off x="10668000" y="5588000"/>
            <a:ext cx="482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Europe — Expansion Phase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60000" y="60325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$0.23M profit from later expansion as markets stabilized, with room for future growth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160000" y="7048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AVG. PRODUCTION COST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160000" y="73914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2000" y="8788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 NAVY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2" name="Text 19"/>
          <p:cNvSpPr/>
          <p:nvPr/>
        </p:nvSpPr>
        <p:spPr>
          <a:xfrm>
            <a:off x="14859000" y="87884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Market Share &amp; Competitive Position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5200" y="114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Asia monopoly positions and overall market standing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762000" y="1905000"/>
          <a:ext cx="6096000" cy="533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620000" y="203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ASIA MARKET DOMINANCE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0" y="24511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9" name="Shape 6"/>
          <p:cNvSpPr/>
          <p:nvPr/>
        </p:nvSpPr>
        <p:spPr>
          <a:xfrm>
            <a:off x="7620000" y="2730500"/>
            <a:ext cx="7874000" cy="1270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0" name="Shape 7"/>
          <p:cNvSpPr/>
          <p:nvPr/>
        </p:nvSpPr>
        <p:spPr>
          <a:xfrm>
            <a:off x="7874000" y="304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1" name="Text 8"/>
          <p:cNvSpPr/>
          <p:nvPr/>
        </p:nvSpPr>
        <p:spPr>
          <a:xfrm>
            <a:off x="8509000" y="292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1 — Monopoly Position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09000" y="3302000"/>
            <a:ext cx="673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Achieved dominant market share with 9 premium features at competitive pricing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0" y="4191000"/>
            <a:ext cx="7874000" cy="1270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4" name="Shape 11"/>
          <p:cNvSpPr/>
          <p:nvPr/>
        </p:nvSpPr>
        <p:spPr>
          <a:xfrm>
            <a:off x="7874000" y="450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5" name="Text 12"/>
          <p:cNvSpPr/>
          <p:nvPr/>
        </p:nvSpPr>
        <p:spPr>
          <a:xfrm>
            <a:off x="8509000" y="4381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4 — Monopoly Position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9000" y="4762500"/>
            <a:ext cx="673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Secured market leadership through max features (9) and strategic network coverage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0" y="5842000"/>
            <a:ext cx="7874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Shape 15"/>
          <p:cNvSpPr/>
          <p:nvPr/>
        </p:nvSpPr>
        <p:spPr>
          <a:xfrm>
            <a:off x="7874000" y="615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9" name="Text 16"/>
          <p:cNvSpPr/>
          <p:nvPr/>
        </p:nvSpPr>
        <p:spPr>
          <a:xfrm>
            <a:off x="8509000" y="6032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Outlook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09000" y="63500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market growth rate was negative — our gains came from strategic positioning and competitor displacement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000" y="8788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 NAVY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3" name="Text 20"/>
          <p:cNvSpPr/>
          <p:nvPr/>
        </p:nvSpPr>
        <p:spPr>
          <a:xfrm>
            <a:off x="14859000" y="87884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Sales, Spending &amp; Financial Health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5200" y="114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Revenue streams, production investment, and balance sheet strength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05000"/>
            <a:ext cx="3429000" cy="2540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00" y="6350"/>
                </a:moveTo>
                <a:cubicBezTo>
                  <a:pt x="381000" y="-4207"/>
                  <a:pt x="372507" y="-12700"/>
                  <a:pt x="361950" y="-12700"/>
                </a:cubicBezTo>
                <a:lnTo>
                  <a:pt x="281146" y="-12700"/>
                </a:lnTo>
                <a:cubicBezTo>
                  <a:pt x="270589" y="-12700"/>
                  <a:pt x="262096" y="-4207"/>
                  <a:pt x="262096" y="6350"/>
                </a:cubicBezTo>
                <a:cubicBezTo>
                  <a:pt x="262096" y="16907"/>
                  <a:pt x="270589" y="25400"/>
                  <a:pt x="281146" y="25400"/>
                </a:cubicBezTo>
                <a:lnTo>
                  <a:pt x="315992" y="25400"/>
                </a:lnTo>
                <a:lnTo>
                  <a:pt x="227647" y="113744"/>
                </a:lnTo>
                <a:lnTo>
                  <a:pt x="152162" y="49054"/>
                </a:lnTo>
                <a:cubicBezTo>
                  <a:pt x="145018" y="42942"/>
                  <a:pt x="134541" y="42942"/>
                  <a:pt x="127397" y="49054"/>
                </a:cubicBezTo>
                <a:lnTo>
                  <a:pt x="38497" y="125254"/>
                </a:lnTo>
                <a:cubicBezTo>
                  <a:pt x="30480" y="132080"/>
                  <a:pt x="29607" y="144145"/>
                  <a:pt x="36433" y="152083"/>
                </a:cubicBezTo>
                <a:cubicBezTo>
                  <a:pt x="43259" y="160020"/>
                  <a:pt x="55324" y="160973"/>
                  <a:pt x="63262" y="154146"/>
                </a:cubicBezTo>
                <a:lnTo>
                  <a:pt x="139779" y="88583"/>
                </a:lnTo>
                <a:lnTo>
                  <a:pt x="216297" y="154146"/>
                </a:lnTo>
                <a:cubicBezTo>
                  <a:pt x="223838" y="160655"/>
                  <a:pt x="235109" y="160179"/>
                  <a:pt x="242173" y="153114"/>
                </a:cubicBezTo>
                <a:lnTo>
                  <a:pt x="342979" y="52308"/>
                </a:lnTo>
                <a:lnTo>
                  <a:pt x="342979" y="87154"/>
                </a:lnTo>
                <a:cubicBezTo>
                  <a:pt x="342979" y="97711"/>
                  <a:pt x="351473" y="106204"/>
                  <a:pt x="362029" y="106204"/>
                </a:cubicBezTo>
                <a:cubicBezTo>
                  <a:pt x="372586" y="106204"/>
                  <a:pt x="381079" y="97711"/>
                  <a:pt x="381079" y="87154"/>
                </a:cubicBezTo>
                <a:lnTo>
                  <a:pt x="381000" y="6350"/>
                </a:lnTo>
                <a:close/>
                <a:moveTo>
                  <a:pt x="38100" y="203200"/>
                </a:moveTo>
                <a:cubicBezTo>
                  <a:pt x="17066" y="203200"/>
                  <a:pt x="0" y="220266"/>
                  <a:pt x="0" y="241300"/>
                </a:cubicBezTo>
                <a:lnTo>
                  <a:pt x="0" y="368300"/>
                </a:lnTo>
                <a:cubicBezTo>
                  <a:pt x="0" y="389334"/>
                  <a:pt x="17066" y="406400"/>
                  <a:pt x="38100" y="406400"/>
                </a:cubicBezTo>
                <a:lnTo>
                  <a:pt x="368300" y="406400"/>
                </a:lnTo>
                <a:cubicBezTo>
                  <a:pt x="389334" y="406400"/>
                  <a:pt x="406400" y="389334"/>
                  <a:pt x="406400" y="368300"/>
                </a:cubicBezTo>
                <a:lnTo>
                  <a:pt x="406400" y="241300"/>
                </a:lnTo>
                <a:cubicBezTo>
                  <a:pt x="406400" y="220266"/>
                  <a:pt x="389334" y="203200"/>
                  <a:pt x="368300" y="203200"/>
                </a:cubicBezTo>
                <a:lnTo>
                  <a:pt x="38100" y="203200"/>
                </a:lnTo>
                <a:close/>
                <a:moveTo>
                  <a:pt x="75644" y="247650"/>
                </a:moveTo>
                <a:cubicBezTo>
                  <a:pt x="72946" y="263604"/>
                  <a:pt x="60404" y="276225"/>
                  <a:pt x="44371" y="278924"/>
                </a:cubicBezTo>
                <a:cubicBezTo>
                  <a:pt x="40878" y="279479"/>
                  <a:pt x="38021" y="276622"/>
                  <a:pt x="38021" y="273129"/>
                </a:cubicBezTo>
                <a:lnTo>
                  <a:pt x="38021" y="247729"/>
                </a:lnTo>
                <a:cubicBezTo>
                  <a:pt x="38021" y="244237"/>
                  <a:pt x="40878" y="241379"/>
                  <a:pt x="44371" y="241379"/>
                </a:cubicBezTo>
                <a:lnTo>
                  <a:pt x="69771" y="241379"/>
                </a:lnTo>
                <a:cubicBezTo>
                  <a:pt x="73263" y="241379"/>
                  <a:pt x="76200" y="244237"/>
                  <a:pt x="75565" y="247729"/>
                </a:cubicBezTo>
                <a:close/>
                <a:moveTo>
                  <a:pt x="75644" y="362029"/>
                </a:moveTo>
                <a:cubicBezTo>
                  <a:pt x="76200" y="365522"/>
                  <a:pt x="73343" y="368379"/>
                  <a:pt x="69850" y="368379"/>
                </a:cubicBezTo>
                <a:lnTo>
                  <a:pt x="44450" y="368379"/>
                </a:lnTo>
                <a:cubicBezTo>
                  <a:pt x="40958" y="368379"/>
                  <a:pt x="38100" y="365522"/>
                  <a:pt x="38100" y="362029"/>
                </a:cubicBezTo>
                <a:lnTo>
                  <a:pt x="38100" y="336629"/>
                </a:lnTo>
                <a:cubicBezTo>
                  <a:pt x="38100" y="333137"/>
                  <a:pt x="40958" y="330200"/>
                  <a:pt x="44450" y="330835"/>
                </a:cubicBezTo>
                <a:cubicBezTo>
                  <a:pt x="60404" y="333534"/>
                  <a:pt x="73025" y="346075"/>
                  <a:pt x="75724" y="362109"/>
                </a:cubicBezTo>
                <a:close/>
                <a:moveTo>
                  <a:pt x="361950" y="330756"/>
                </a:moveTo>
                <a:cubicBezTo>
                  <a:pt x="365442" y="330200"/>
                  <a:pt x="368300" y="333058"/>
                  <a:pt x="368300" y="336550"/>
                </a:cubicBezTo>
                <a:lnTo>
                  <a:pt x="368300" y="361950"/>
                </a:lnTo>
                <a:cubicBezTo>
                  <a:pt x="368300" y="365442"/>
                  <a:pt x="365442" y="368300"/>
                  <a:pt x="361950" y="368300"/>
                </a:cubicBezTo>
                <a:lnTo>
                  <a:pt x="336550" y="368300"/>
                </a:lnTo>
                <a:cubicBezTo>
                  <a:pt x="333058" y="368300"/>
                  <a:pt x="330121" y="365442"/>
                  <a:pt x="330756" y="361950"/>
                </a:cubicBezTo>
                <a:cubicBezTo>
                  <a:pt x="333454" y="345996"/>
                  <a:pt x="345996" y="333375"/>
                  <a:pt x="362029" y="330676"/>
                </a:cubicBezTo>
                <a:close/>
                <a:moveTo>
                  <a:pt x="330756" y="247650"/>
                </a:moveTo>
                <a:cubicBezTo>
                  <a:pt x="330200" y="244158"/>
                  <a:pt x="333058" y="241300"/>
                  <a:pt x="336550" y="241300"/>
                </a:cubicBezTo>
                <a:lnTo>
                  <a:pt x="361950" y="241300"/>
                </a:lnTo>
                <a:cubicBezTo>
                  <a:pt x="365442" y="241300"/>
                  <a:pt x="368300" y="244158"/>
                  <a:pt x="368300" y="247650"/>
                </a:cubicBezTo>
                <a:lnTo>
                  <a:pt x="368300" y="273050"/>
                </a:lnTo>
                <a:cubicBezTo>
                  <a:pt x="368300" y="276543"/>
                  <a:pt x="365442" y="279479"/>
                  <a:pt x="361950" y="278844"/>
                </a:cubicBezTo>
                <a:cubicBezTo>
                  <a:pt x="345996" y="276146"/>
                  <a:pt x="333375" y="263604"/>
                  <a:pt x="330676" y="247571"/>
                </a:cubicBezTo>
                <a:close/>
                <a:moveTo>
                  <a:pt x="152400" y="304800"/>
                </a:moveTo>
                <a:cubicBezTo>
                  <a:pt x="152400" y="276763"/>
                  <a:pt x="175163" y="254000"/>
                  <a:pt x="203200" y="254000"/>
                </a:cubicBezTo>
                <a:cubicBezTo>
                  <a:pt x="231237" y="254000"/>
                  <a:pt x="254000" y="276763"/>
                  <a:pt x="254000" y="304800"/>
                </a:cubicBezTo>
                <a:cubicBezTo>
                  <a:pt x="254000" y="332837"/>
                  <a:pt x="231237" y="355600"/>
                  <a:pt x="203200" y="355600"/>
                </a:cubicBezTo>
                <a:cubicBezTo>
                  <a:pt x="175163" y="355600"/>
                  <a:pt x="152400" y="332837"/>
                  <a:pt x="152400" y="304800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692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SALES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6000" y="3048000"/>
            <a:ext cx="292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$3.45M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683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 across all regions and tech segments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33900" y="1905000"/>
            <a:ext cx="3429000" cy="2540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2" name="Shape 10"/>
          <p:cNvSpPr/>
          <p:nvPr/>
        </p:nvSpPr>
        <p:spPr>
          <a:xfrm>
            <a:off x="47879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11351" y="25400"/>
                  <a:pt x="0" y="36751"/>
                  <a:pt x="0" y="50800"/>
                </a:cubicBezTo>
                <a:lnTo>
                  <a:pt x="0" y="342900"/>
                </a:lnTo>
                <a:cubicBezTo>
                  <a:pt x="0" y="363934"/>
                  <a:pt x="17066" y="381000"/>
                  <a:pt x="38100" y="381000"/>
                </a:cubicBezTo>
                <a:lnTo>
                  <a:pt x="368300" y="381000"/>
                </a:lnTo>
                <a:cubicBezTo>
                  <a:pt x="389334" y="381000"/>
                  <a:pt x="406400" y="363934"/>
                  <a:pt x="406400" y="342900"/>
                </a:cubicBezTo>
                <a:lnTo>
                  <a:pt x="406400" y="120809"/>
                </a:lnTo>
                <a:cubicBezTo>
                  <a:pt x="406400" y="106363"/>
                  <a:pt x="391001" y="97234"/>
                  <a:pt x="378301" y="104061"/>
                </a:cubicBezTo>
                <a:lnTo>
                  <a:pt x="254000" y="170974"/>
                </a:lnTo>
                <a:lnTo>
                  <a:pt x="254000" y="120809"/>
                </a:lnTo>
                <a:cubicBezTo>
                  <a:pt x="254000" y="106363"/>
                  <a:pt x="238601" y="97234"/>
                  <a:pt x="225901" y="104061"/>
                </a:cubicBezTo>
                <a:lnTo>
                  <a:pt x="101600" y="170974"/>
                </a:lnTo>
                <a:lnTo>
                  <a:pt x="101600" y="50800"/>
                </a:lnTo>
                <a:cubicBezTo>
                  <a:pt x="101600" y="36751"/>
                  <a:pt x="90249" y="25400"/>
                  <a:pt x="76200" y="25400"/>
                </a:cubicBezTo>
                <a:lnTo>
                  <a:pt x="25400" y="25400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4787900" y="26924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PRODUCTION INVESTMENT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87900" y="3048000"/>
            <a:ext cx="292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Heavy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87900" y="3683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capex in production plants across all regions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93100" y="1905000"/>
            <a:ext cx="3429000" cy="2540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7" name="Shape 15"/>
          <p:cNvSpPr/>
          <p:nvPr/>
        </p:nvSpPr>
        <p:spPr>
          <a:xfrm>
            <a:off x="85471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14300" y="177800"/>
                </a:moveTo>
                <a:cubicBezTo>
                  <a:pt x="128349" y="177800"/>
                  <a:pt x="139700" y="189151"/>
                  <a:pt x="139700" y="203200"/>
                </a:cubicBezTo>
                <a:lnTo>
                  <a:pt x="139700" y="254000"/>
                </a:lnTo>
                <a:cubicBezTo>
                  <a:pt x="139700" y="268049"/>
                  <a:pt x="128349" y="279400"/>
                  <a:pt x="114300" y="279400"/>
                </a:cubicBezTo>
                <a:cubicBezTo>
                  <a:pt x="100251" y="279400"/>
                  <a:pt x="88900" y="268049"/>
                  <a:pt x="88900" y="254000"/>
                </a:cubicBezTo>
                <a:lnTo>
                  <a:pt x="88900" y="203200"/>
                </a:lnTo>
                <a:cubicBezTo>
                  <a:pt x="88900" y="189151"/>
                  <a:pt x="100251" y="177800"/>
                  <a:pt x="114300" y="177800"/>
                </a:cubicBezTo>
                <a:close/>
                <a:moveTo>
                  <a:pt x="228600" y="127000"/>
                </a:moveTo>
                <a:lnTo>
                  <a:pt x="228600" y="254000"/>
                </a:lnTo>
                <a:cubicBezTo>
                  <a:pt x="228600" y="268049"/>
                  <a:pt x="217249" y="279400"/>
                  <a:pt x="203200" y="279400"/>
                </a:cubicBezTo>
                <a:cubicBezTo>
                  <a:pt x="189151" y="279400"/>
                  <a:pt x="177800" y="268049"/>
                  <a:pt x="177800" y="2540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292100" y="152400"/>
                </a:moveTo>
                <a:cubicBezTo>
                  <a:pt x="306149" y="152400"/>
                  <a:pt x="317500" y="163751"/>
                  <a:pt x="317500" y="177800"/>
                </a:cubicBezTo>
                <a:lnTo>
                  <a:pt x="317500" y="254000"/>
                </a:lnTo>
                <a:cubicBezTo>
                  <a:pt x="317500" y="268049"/>
                  <a:pt x="306149" y="279400"/>
                  <a:pt x="292100" y="279400"/>
                </a:cubicBezTo>
                <a:cubicBezTo>
                  <a:pt x="278051" y="279400"/>
                  <a:pt x="266700" y="268049"/>
                  <a:pt x="266700" y="254000"/>
                </a:cubicBezTo>
                <a:lnTo>
                  <a:pt x="266700" y="177800"/>
                </a:lnTo>
                <a:cubicBezTo>
                  <a:pt x="266700" y="163751"/>
                  <a:pt x="278051" y="152400"/>
                  <a:pt x="292100" y="152400"/>
                </a:cubicBezTo>
                <a:close/>
                <a:moveTo>
                  <a:pt x="406400" y="76200"/>
                </a:moveTo>
                <a:lnTo>
                  <a:pt x="406400" y="254000"/>
                </a:lnTo>
                <a:cubicBezTo>
                  <a:pt x="406400" y="268049"/>
                  <a:pt x="395049" y="279400"/>
                  <a:pt x="381000" y="279400"/>
                </a:cubicBezTo>
                <a:cubicBezTo>
                  <a:pt x="366951" y="279400"/>
                  <a:pt x="355600" y="268049"/>
                  <a:pt x="355600" y="254000"/>
                </a:cubicBezTo>
                <a:lnTo>
                  <a:pt x="355600" y="76200"/>
                </a:lnTo>
                <a:cubicBezTo>
                  <a:pt x="355600" y="62151"/>
                  <a:pt x="366951" y="50800"/>
                  <a:pt x="381000" y="50800"/>
                </a:cubicBezTo>
                <a:cubicBezTo>
                  <a:pt x="395049" y="50800"/>
                  <a:pt x="406400" y="62151"/>
                  <a:pt x="406400" y="76200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8547100" y="2692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SHAREHOLDER RETURN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47100" y="3048000"/>
            <a:ext cx="292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47100" y="3683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returns through disciplined financial management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065000" y="1905000"/>
            <a:ext cx="3429000" cy="2540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2" name="Shape 20"/>
          <p:cNvSpPr/>
          <p:nvPr/>
        </p:nvSpPr>
        <p:spPr>
          <a:xfrm>
            <a:off x="12268200" y="2159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04800" y="25400"/>
                </a:moveTo>
                <a:lnTo>
                  <a:pt x="406400" y="25400"/>
                </a:lnTo>
                <a:cubicBezTo>
                  <a:pt x="420449" y="25400"/>
                  <a:pt x="431800" y="36751"/>
                  <a:pt x="431800" y="50800"/>
                </a:cubicBezTo>
                <a:cubicBezTo>
                  <a:pt x="431800" y="64849"/>
                  <a:pt x="420449" y="76200"/>
                  <a:pt x="406400" y="76200"/>
                </a:cubicBezTo>
                <a:lnTo>
                  <a:pt x="316230" y="76200"/>
                </a:lnTo>
                <a:cubicBezTo>
                  <a:pt x="312103" y="96679"/>
                  <a:pt x="298053" y="113586"/>
                  <a:pt x="279400" y="121682"/>
                </a:cubicBezTo>
                <a:lnTo>
                  <a:pt x="279400" y="355600"/>
                </a:lnTo>
                <a:lnTo>
                  <a:pt x="406400" y="355600"/>
                </a:lnTo>
                <a:cubicBezTo>
                  <a:pt x="420449" y="355600"/>
                  <a:pt x="431800" y="366951"/>
                  <a:pt x="431800" y="381000"/>
                </a:cubicBezTo>
                <a:cubicBezTo>
                  <a:pt x="431800" y="395049"/>
                  <a:pt x="420449" y="406400"/>
                  <a:pt x="406400" y="406400"/>
                </a:cubicBezTo>
                <a:lnTo>
                  <a:pt x="101600" y="406400"/>
                </a:lnTo>
                <a:cubicBezTo>
                  <a:pt x="87551" y="406400"/>
                  <a:pt x="76200" y="395049"/>
                  <a:pt x="76200" y="381000"/>
                </a:cubicBezTo>
                <a:cubicBezTo>
                  <a:pt x="76200" y="366951"/>
                  <a:pt x="87551" y="355600"/>
                  <a:pt x="101600" y="355600"/>
                </a:cubicBezTo>
                <a:lnTo>
                  <a:pt x="228600" y="355600"/>
                </a:lnTo>
                <a:lnTo>
                  <a:pt x="228600" y="121682"/>
                </a:lnTo>
                <a:cubicBezTo>
                  <a:pt x="209947" y="113506"/>
                  <a:pt x="195898" y="96599"/>
                  <a:pt x="191770" y="76200"/>
                </a:cubicBezTo>
                <a:lnTo>
                  <a:pt x="101600" y="76200"/>
                </a:lnTo>
                <a:cubicBezTo>
                  <a:pt x="87551" y="76200"/>
                  <a:pt x="76200" y="64849"/>
                  <a:pt x="76200" y="50800"/>
                </a:cubicBezTo>
                <a:cubicBezTo>
                  <a:pt x="76200" y="36751"/>
                  <a:pt x="87551" y="25400"/>
                  <a:pt x="101600" y="25400"/>
                </a:cubicBezTo>
                <a:lnTo>
                  <a:pt x="203200" y="25400"/>
                </a:lnTo>
                <a:cubicBezTo>
                  <a:pt x="214789" y="10001"/>
                  <a:pt x="233204" y="0"/>
                  <a:pt x="254000" y="0"/>
                </a:cubicBezTo>
                <a:cubicBezTo>
                  <a:pt x="274796" y="0"/>
                  <a:pt x="293211" y="10001"/>
                  <a:pt x="304800" y="25400"/>
                </a:cubicBezTo>
                <a:close/>
                <a:moveTo>
                  <a:pt x="348933" y="254000"/>
                </a:moveTo>
                <a:lnTo>
                  <a:pt x="463868" y="254000"/>
                </a:lnTo>
                <a:lnTo>
                  <a:pt x="406400" y="155416"/>
                </a:lnTo>
                <a:lnTo>
                  <a:pt x="348933" y="254000"/>
                </a:lnTo>
                <a:close/>
                <a:moveTo>
                  <a:pt x="406400" y="330200"/>
                </a:moveTo>
                <a:cubicBezTo>
                  <a:pt x="356473" y="330200"/>
                  <a:pt x="314960" y="303213"/>
                  <a:pt x="306388" y="267573"/>
                </a:cubicBezTo>
                <a:cubicBezTo>
                  <a:pt x="304324" y="258842"/>
                  <a:pt x="307181" y="249873"/>
                  <a:pt x="311706" y="242094"/>
                </a:cubicBezTo>
                <a:lnTo>
                  <a:pt x="387271" y="112554"/>
                </a:lnTo>
                <a:cubicBezTo>
                  <a:pt x="391239" y="105728"/>
                  <a:pt x="398542" y="101600"/>
                  <a:pt x="406400" y="101600"/>
                </a:cubicBezTo>
                <a:cubicBezTo>
                  <a:pt x="414258" y="101600"/>
                  <a:pt x="421561" y="105807"/>
                  <a:pt x="425529" y="112554"/>
                </a:cubicBezTo>
                <a:lnTo>
                  <a:pt x="501094" y="242094"/>
                </a:lnTo>
                <a:cubicBezTo>
                  <a:pt x="505619" y="249873"/>
                  <a:pt x="508476" y="258842"/>
                  <a:pt x="506413" y="267573"/>
                </a:cubicBezTo>
                <a:cubicBezTo>
                  <a:pt x="497840" y="303133"/>
                  <a:pt x="456327" y="330200"/>
                  <a:pt x="406400" y="330200"/>
                </a:cubicBezTo>
                <a:close/>
                <a:moveTo>
                  <a:pt x="100648" y="155416"/>
                </a:moveTo>
                <a:lnTo>
                  <a:pt x="43180" y="254000"/>
                </a:lnTo>
                <a:lnTo>
                  <a:pt x="158194" y="254000"/>
                </a:lnTo>
                <a:lnTo>
                  <a:pt x="100648" y="155416"/>
                </a:lnTo>
                <a:close/>
                <a:moveTo>
                  <a:pt x="714" y="267573"/>
                </a:moveTo>
                <a:cubicBezTo>
                  <a:pt x="-1349" y="258842"/>
                  <a:pt x="1508" y="249873"/>
                  <a:pt x="6033" y="242094"/>
                </a:cubicBezTo>
                <a:lnTo>
                  <a:pt x="81598" y="112554"/>
                </a:lnTo>
                <a:cubicBezTo>
                  <a:pt x="85566" y="105728"/>
                  <a:pt x="92869" y="101600"/>
                  <a:pt x="100727" y="101600"/>
                </a:cubicBezTo>
                <a:cubicBezTo>
                  <a:pt x="108585" y="101600"/>
                  <a:pt x="115888" y="105807"/>
                  <a:pt x="119856" y="112554"/>
                </a:cubicBezTo>
                <a:lnTo>
                  <a:pt x="195421" y="242094"/>
                </a:lnTo>
                <a:cubicBezTo>
                  <a:pt x="199946" y="249873"/>
                  <a:pt x="202803" y="258842"/>
                  <a:pt x="200739" y="267573"/>
                </a:cubicBezTo>
                <a:cubicBezTo>
                  <a:pt x="192167" y="303133"/>
                  <a:pt x="150654" y="330200"/>
                  <a:pt x="100727" y="330200"/>
                </a:cubicBezTo>
                <a:cubicBezTo>
                  <a:pt x="50800" y="330200"/>
                  <a:pt x="9287" y="303213"/>
                  <a:pt x="714" y="267573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12319000" y="2692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EQUITY RATIO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19000" y="3048000"/>
            <a:ext cx="292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19000" y="3683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equity base with minimal short-term debt exposure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488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FEATURE INVESTMENT STRATEGY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308600"/>
            <a:ext cx="635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5588000"/>
            <a:ext cx="7112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57785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159000" y="577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— Tech 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159000" y="60960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features deployed to capture Asia market monopoly and premium positioning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82000" y="5588000"/>
            <a:ext cx="7112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8636000" y="57785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79000" y="577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— Tech 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779000" y="60960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feature stack enabled dual-technology monopoly and competitive moat in Asia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7239000"/>
            <a:ext cx="14732000" cy="762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37" name="Text 35"/>
          <p:cNvSpPr/>
          <p:nvPr/>
        </p:nvSpPr>
        <p:spPr>
          <a:xfrm>
            <a:off x="1016000" y="7239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EBITDA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reflects strong operational performance | 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 Price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growth validates market confidence | 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Sheet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shows zero short-term debt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2000" y="8788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 NAVY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0" name="Text 38"/>
          <p:cNvSpPr/>
          <p:nvPr/>
        </p:nvSpPr>
        <p:spPr>
          <a:xfrm>
            <a:off x="14859000" y="87884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d3iquguxr6r4/mnt/agents/output/team-navy-capstone/images/2_Dramatic_Chess_Set_with_Strategic.png">    </p:cNvPr>
          <p:cNvPicPr>
            <a:picLocks noChangeAspect="1"/>
          </p:cNvPicPr>
          <p:nvPr/>
        </p:nvPicPr>
        <p:blipFill>
          <a:blip r:embed="rId1"/>
          <a:srcRect l="0" r="0" t="7850" b="785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D32">
                  <a:alpha val="95000"/>
                </a:srgbClr>
              </a:gs>
              <a:gs pos="60000">
                <a:srgbClr val="0F1D32">
                  <a:alpha val="80000"/>
                </a:srgbClr>
              </a:gs>
              <a:gs pos="100000">
                <a:srgbClr val="0F1D32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016000" cy="381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STRATEGIC DECISIONS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interconnected strategies driving competitive advantage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Six-Pillar Strategy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5200" y="1143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Integrated approach across market, product, production, marketing, finance, and R&amp;D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05000"/>
            <a:ext cx="4699000" cy="1968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006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8600" y="2006600"/>
            <a:ext cx="374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Prioritization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2438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Prioritized USA and Asia early, expanded to Europe as markets stabilized. Focused on capital efficiency and margin extraction.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905000"/>
            <a:ext cx="4699000" cy="1968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1" name="Text 9"/>
          <p:cNvSpPr/>
          <p:nvPr/>
        </p:nvSpPr>
        <p:spPr>
          <a:xfrm>
            <a:off x="5969000" y="2006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5100" y="2006600"/>
            <a:ext cx="374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&amp; Product Mix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69000" y="2438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Launched Tech 1 and Tech 4 with 9 features each at reasonable pricing to maximize market penetration.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905000"/>
            <a:ext cx="4699000" cy="1968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5" name="Text 13"/>
          <p:cNvSpPr/>
          <p:nvPr/>
        </p:nvSpPr>
        <p:spPr>
          <a:xfrm>
            <a:off x="10985500" y="2006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31600" y="2006600"/>
            <a:ext cx="374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Optimization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85500" y="2438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in-house and contract manufacturing to minimize cost and maximize production availability.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191000"/>
            <a:ext cx="4699000" cy="1968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4292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" y="4292600"/>
            <a:ext cx="374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Strategy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2500" y="4724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Made products affordable and market-fit. Forecasted demand using network coverage data and market growth rates.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78500" y="4191000"/>
            <a:ext cx="4699000" cy="1968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3" name="Text 21"/>
          <p:cNvSpPr/>
          <p:nvPr/>
        </p:nvSpPr>
        <p:spPr>
          <a:xfrm>
            <a:off x="5969000" y="4292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15100" y="4292600"/>
            <a:ext cx="374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Discipline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69000" y="4724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Maintained strong equity, avoided short-term debt, reinvested profits to optimize tax position.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95000" y="4191000"/>
            <a:ext cx="4699000" cy="1968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7" name="Text 25"/>
          <p:cNvSpPr/>
          <p:nvPr/>
        </p:nvSpPr>
        <p:spPr>
          <a:xfrm>
            <a:off x="10985500" y="4292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531600" y="4292600"/>
            <a:ext cx="374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R&amp;D Investment Strategy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85500" y="4724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Phased R&amp;D with a mix of in-house development and contract manufacturing for flexibility.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604000"/>
            <a:ext cx="14732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7750" y="6921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16223" y="95250"/>
                </a:moveTo>
                <a:cubicBezTo>
                  <a:pt x="399752" y="95250"/>
                  <a:pt x="383778" y="99715"/>
                  <a:pt x="369788" y="107851"/>
                </a:cubicBezTo>
                <a:cubicBezTo>
                  <a:pt x="354112" y="91976"/>
                  <a:pt x="335855" y="78680"/>
                  <a:pt x="315714" y="68659"/>
                </a:cubicBezTo>
                <a:cubicBezTo>
                  <a:pt x="343694" y="44847"/>
                  <a:pt x="379313" y="31750"/>
                  <a:pt x="416223" y="31750"/>
                </a:cubicBezTo>
                <a:cubicBezTo>
                  <a:pt x="501948" y="31750"/>
                  <a:pt x="571500" y="101203"/>
                  <a:pt x="571500" y="187027"/>
                </a:cubicBezTo>
                <a:cubicBezTo>
                  <a:pt x="571500" y="228203"/>
                  <a:pt x="555129" y="267692"/>
                  <a:pt x="526058" y="296763"/>
                </a:cubicBezTo>
                <a:lnTo>
                  <a:pt x="455513" y="367308"/>
                </a:lnTo>
                <a:cubicBezTo>
                  <a:pt x="426442" y="396379"/>
                  <a:pt x="386953" y="412750"/>
                  <a:pt x="345777" y="412750"/>
                </a:cubicBezTo>
                <a:cubicBezTo>
                  <a:pt x="260052" y="412750"/>
                  <a:pt x="190500" y="343297"/>
                  <a:pt x="190500" y="257473"/>
                </a:cubicBezTo>
                <a:cubicBezTo>
                  <a:pt x="190500" y="255984"/>
                  <a:pt x="190500" y="254496"/>
                  <a:pt x="190599" y="253008"/>
                </a:cubicBezTo>
                <a:cubicBezTo>
                  <a:pt x="191095" y="235446"/>
                  <a:pt x="205680" y="221655"/>
                  <a:pt x="223242" y="222151"/>
                </a:cubicBezTo>
                <a:cubicBezTo>
                  <a:pt x="240804" y="222647"/>
                  <a:pt x="254595" y="237232"/>
                  <a:pt x="254099" y="254794"/>
                </a:cubicBezTo>
                <a:cubicBezTo>
                  <a:pt x="254099" y="255687"/>
                  <a:pt x="254099" y="256580"/>
                  <a:pt x="254099" y="257373"/>
                </a:cubicBezTo>
                <a:cubicBezTo>
                  <a:pt x="254099" y="308074"/>
                  <a:pt x="295176" y="349151"/>
                  <a:pt x="345877" y="349151"/>
                </a:cubicBezTo>
                <a:cubicBezTo>
                  <a:pt x="370185" y="349151"/>
                  <a:pt x="393502" y="339527"/>
                  <a:pt x="410766" y="322263"/>
                </a:cubicBezTo>
                <a:lnTo>
                  <a:pt x="481310" y="251718"/>
                </a:lnTo>
                <a:cubicBezTo>
                  <a:pt x="498475" y="234553"/>
                  <a:pt x="508198" y="211138"/>
                  <a:pt x="508198" y="186829"/>
                </a:cubicBezTo>
                <a:cubicBezTo>
                  <a:pt x="508198" y="136128"/>
                  <a:pt x="467122" y="95052"/>
                  <a:pt x="416421" y="95052"/>
                </a:cubicBezTo>
                <a:close/>
                <a:moveTo>
                  <a:pt x="273050" y="171946"/>
                </a:moveTo>
                <a:cubicBezTo>
                  <a:pt x="271165" y="171152"/>
                  <a:pt x="269280" y="170061"/>
                  <a:pt x="267593" y="168870"/>
                </a:cubicBezTo>
                <a:cubicBezTo>
                  <a:pt x="255091" y="162421"/>
                  <a:pt x="240804" y="158750"/>
                  <a:pt x="225822" y="158750"/>
                </a:cubicBezTo>
                <a:cubicBezTo>
                  <a:pt x="201513" y="158750"/>
                  <a:pt x="178197" y="168374"/>
                  <a:pt x="160933" y="185638"/>
                </a:cubicBezTo>
                <a:lnTo>
                  <a:pt x="90388" y="256183"/>
                </a:lnTo>
                <a:cubicBezTo>
                  <a:pt x="73223" y="273348"/>
                  <a:pt x="63500" y="296763"/>
                  <a:pt x="63500" y="321072"/>
                </a:cubicBezTo>
                <a:cubicBezTo>
                  <a:pt x="63500" y="371773"/>
                  <a:pt x="104577" y="412849"/>
                  <a:pt x="155277" y="412849"/>
                </a:cubicBezTo>
                <a:cubicBezTo>
                  <a:pt x="171648" y="412849"/>
                  <a:pt x="187623" y="408484"/>
                  <a:pt x="201613" y="400348"/>
                </a:cubicBezTo>
                <a:cubicBezTo>
                  <a:pt x="217289" y="416223"/>
                  <a:pt x="235545" y="429518"/>
                  <a:pt x="255786" y="439539"/>
                </a:cubicBezTo>
                <a:cubicBezTo>
                  <a:pt x="227806" y="463252"/>
                  <a:pt x="192286" y="476448"/>
                  <a:pt x="155277" y="476448"/>
                </a:cubicBezTo>
                <a:cubicBezTo>
                  <a:pt x="69552" y="476448"/>
                  <a:pt x="0" y="406995"/>
                  <a:pt x="0" y="321171"/>
                </a:cubicBezTo>
                <a:cubicBezTo>
                  <a:pt x="0" y="279995"/>
                  <a:pt x="16371" y="240506"/>
                  <a:pt x="45442" y="211435"/>
                </a:cubicBezTo>
                <a:lnTo>
                  <a:pt x="115987" y="140891"/>
                </a:lnTo>
                <a:cubicBezTo>
                  <a:pt x="145058" y="111820"/>
                  <a:pt x="184547" y="95448"/>
                  <a:pt x="225723" y="95448"/>
                </a:cubicBezTo>
                <a:cubicBezTo>
                  <a:pt x="311646" y="95448"/>
                  <a:pt x="381000" y="165497"/>
                  <a:pt x="381000" y="251123"/>
                </a:cubicBezTo>
                <a:cubicBezTo>
                  <a:pt x="381000" y="252413"/>
                  <a:pt x="381000" y="253702"/>
                  <a:pt x="381000" y="254992"/>
                </a:cubicBezTo>
                <a:cubicBezTo>
                  <a:pt x="380603" y="272554"/>
                  <a:pt x="366018" y="286345"/>
                  <a:pt x="348456" y="285948"/>
                </a:cubicBezTo>
                <a:cubicBezTo>
                  <a:pt x="330895" y="285552"/>
                  <a:pt x="317103" y="270966"/>
                  <a:pt x="317500" y="253405"/>
                </a:cubicBezTo>
                <a:cubicBezTo>
                  <a:pt x="317500" y="252611"/>
                  <a:pt x="317500" y="251916"/>
                  <a:pt x="317500" y="251123"/>
                </a:cubicBezTo>
                <a:cubicBezTo>
                  <a:pt x="317500" y="217686"/>
                  <a:pt x="299641" y="188317"/>
                  <a:pt x="273050" y="172145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32" name="Text 30"/>
          <p:cNvSpPr/>
          <p:nvPr/>
        </p:nvSpPr>
        <p:spPr>
          <a:xfrm>
            <a:off x="1841500" y="6731000"/>
            <a:ext cx="1333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Execution: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pillar reinforced the others — market prioritization informed product mix, production optimization enabled competitive pricing, financial discipline funded R&amp;D, and marketing intelligence guided all decisions with data.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8788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 NAVY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5" name="Text 33"/>
          <p:cNvSpPr/>
          <p:nvPr/>
        </p:nvSpPr>
        <p:spPr>
          <a:xfrm>
            <a:off x="14859000" y="87884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Technology &amp; Production Optimization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5200" y="114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Product mix decisions and manufacturing efficiency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879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TECHNOLOGY PORTFOLIO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987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540000"/>
            <a:ext cx="6858000" cy="165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540000"/>
            <a:ext cx="1270000" cy="3810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540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111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Asia Market Monopoly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429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Deployed 9 premium features at competitive pricing to capture dominant market share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445000"/>
            <a:ext cx="6858000" cy="165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4445000"/>
            <a:ext cx="1270000" cy="3810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445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5016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Dual-Technology Leadership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5334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9-feature stack created competitive moat and sustained pricing power in Asia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1879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PRODUCTION MODEL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22987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0" name="Shape 18"/>
          <p:cNvSpPr/>
          <p:nvPr/>
        </p:nvSpPr>
        <p:spPr>
          <a:xfrm>
            <a:off x="8382000" y="2540000"/>
            <a:ext cx="3429000" cy="165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0" y="273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/>
            </a:pathLst>
          </a:custGeom>
          <a:solidFill>
            <a:srgbClr val="C9A96E"/>
          </a:solidFill>
          <a:ln/>
        </p:spPr>
      </p:sp>
      <p:sp>
        <p:nvSpPr>
          <p:cNvPr id="22" name="Text 20"/>
          <p:cNvSpPr/>
          <p:nvPr/>
        </p:nvSpPr>
        <p:spPr>
          <a:xfrm>
            <a:off x="8572500" y="3365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In-House Manufacturing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72500" y="36830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control and core production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065000" y="2540000"/>
            <a:ext cx="3429000" cy="165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76250" y="2730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66799" y="84534"/>
                </a:moveTo>
                <a:lnTo>
                  <a:pt x="151110" y="213122"/>
                </a:lnTo>
                <a:cubicBezTo>
                  <a:pt x="146546" y="218182"/>
                  <a:pt x="146745" y="226020"/>
                  <a:pt x="151606" y="230882"/>
                </a:cubicBezTo>
                <a:cubicBezTo>
                  <a:pt x="181868" y="261144"/>
                  <a:pt x="230981" y="261144"/>
                  <a:pt x="261243" y="230882"/>
                </a:cubicBezTo>
                <a:lnTo>
                  <a:pt x="292795" y="199330"/>
                </a:lnTo>
                <a:cubicBezTo>
                  <a:pt x="296962" y="195163"/>
                  <a:pt x="302220" y="192881"/>
                  <a:pt x="307578" y="192484"/>
                </a:cubicBezTo>
                <a:cubicBezTo>
                  <a:pt x="314325" y="191889"/>
                  <a:pt x="321270" y="194171"/>
                  <a:pt x="326430" y="199330"/>
                </a:cubicBezTo>
                <a:lnTo>
                  <a:pt x="501650" y="373063"/>
                </a:lnTo>
                <a:lnTo>
                  <a:pt x="571500" y="317500"/>
                </a:lnTo>
                <a:lnTo>
                  <a:pt x="571500" y="31750"/>
                </a:lnTo>
                <a:lnTo>
                  <a:pt x="460375" y="95250"/>
                </a:lnTo>
                <a:lnTo>
                  <a:pt x="436761" y="79474"/>
                </a:lnTo>
                <a:cubicBezTo>
                  <a:pt x="421084" y="69056"/>
                  <a:pt x="402729" y="63500"/>
                  <a:pt x="383877" y="63500"/>
                </a:cubicBezTo>
                <a:lnTo>
                  <a:pt x="314027" y="63500"/>
                </a:lnTo>
                <a:cubicBezTo>
                  <a:pt x="312936" y="63500"/>
                  <a:pt x="311745" y="63500"/>
                  <a:pt x="310654" y="63599"/>
                </a:cubicBezTo>
                <a:cubicBezTo>
                  <a:pt x="293886" y="64492"/>
                  <a:pt x="278110" y="72033"/>
                  <a:pt x="266799" y="84534"/>
                </a:cubicBezTo>
                <a:close/>
                <a:moveTo>
                  <a:pt x="115689" y="181273"/>
                </a:moveTo>
                <a:lnTo>
                  <a:pt x="221655" y="63500"/>
                </a:lnTo>
                <a:lnTo>
                  <a:pt x="182364" y="63500"/>
                </a:lnTo>
                <a:cubicBezTo>
                  <a:pt x="157063" y="63500"/>
                  <a:pt x="132854" y="73521"/>
                  <a:pt x="114995" y="91380"/>
                </a:cubicBezTo>
                <a:lnTo>
                  <a:pt x="111125" y="95250"/>
                </a:lnTo>
                <a:lnTo>
                  <a:pt x="0" y="31750"/>
                </a:lnTo>
                <a:lnTo>
                  <a:pt x="0" y="317500"/>
                </a:lnTo>
                <a:lnTo>
                  <a:pt x="155178" y="446782"/>
                </a:lnTo>
                <a:cubicBezTo>
                  <a:pt x="177998" y="465832"/>
                  <a:pt x="206772" y="476250"/>
                  <a:pt x="236438" y="476250"/>
                </a:cubicBezTo>
                <a:lnTo>
                  <a:pt x="252016" y="476250"/>
                </a:lnTo>
                <a:lnTo>
                  <a:pt x="245070" y="469305"/>
                </a:lnTo>
                <a:cubicBezTo>
                  <a:pt x="235744" y="459978"/>
                  <a:pt x="235744" y="444897"/>
                  <a:pt x="245070" y="435670"/>
                </a:cubicBezTo>
                <a:cubicBezTo>
                  <a:pt x="254397" y="426442"/>
                  <a:pt x="269478" y="426343"/>
                  <a:pt x="278705" y="435670"/>
                </a:cubicBezTo>
                <a:lnTo>
                  <a:pt x="319385" y="476349"/>
                </a:lnTo>
                <a:lnTo>
                  <a:pt x="328315" y="476349"/>
                </a:lnTo>
                <a:cubicBezTo>
                  <a:pt x="347266" y="476349"/>
                  <a:pt x="365820" y="472083"/>
                  <a:pt x="382687" y="464145"/>
                </a:cubicBezTo>
                <a:lnTo>
                  <a:pt x="356195" y="437555"/>
                </a:lnTo>
                <a:cubicBezTo>
                  <a:pt x="346869" y="428228"/>
                  <a:pt x="346869" y="413147"/>
                  <a:pt x="356195" y="403920"/>
                </a:cubicBezTo>
                <a:cubicBezTo>
                  <a:pt x="365522" y="394692"/>
                  <a:pt x="380603" y="394593"/>
                  <a:pt x="389830" y="403920"/>
                </a:cubicBezTo>
                <a:lnTo>
                  <a:pt x="421580" y="435670"/>
                </a:lnTo>
                <a:lnTo>
                  <a:pt x="438944" y="418306"/>
                </a:lnTo>
                <a:cubicBezTo>
                  <a:pt x="447774" y="409476"/>
                  <a:pt x="450354" y="396677"/>
                  <a:pt x="446484" y="385465"/>
                </a:cubicBezTo>
                <a:lnTo>
                  <a:pt x="309662" y="249734"/>
                </a:lnTo>
                <a:lnTo>
                  <a:pt x="294878" y="264517"/>
                </a:lnTo>
                <a:cubicBezTo>
                  <a:pt x="245963" y="313432"/>
                  <a:pt x="166787" y="313432"/>
                  <a:pt x="117872" y="264517"/>
                </a:cubicBezTo>
                <a:cubicBezTo>
                  <a:pt x="95052" y="241697"/>
                  <a:pt x="94159" y="205085"/>
                  <a:pt x="115689" y="181173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26" name="Text 24"/>
          <p:cNvSpPr/>
          <p:nvPr/>
        </p:nvSpPr>
        <p:spPr>
          <a:xfrm>
            <a:off x="12255500" y="3365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Contract Manufacturing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255500" y="36830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flexibility and capacity scaling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4445000"/>
            <a:ext cx="7112000" cy="165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9" name="Shape 27"/>
          <p:cNvSpPr/>
          <p:nvPr/>
        </p:nvSpPr>
        <p:spPr>
          <a:xfrm>
            <a:off x="8636000" y="488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30" name="Text 28"/>
          <p:cNvSpPr/>
          <p:nvPr/>
        </p:nvSpPr>
        <p:spPr>
          <a:xfrm>
            <a:off x="9271000" y="4699000"/>
            <a:ext cx="596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Production Cost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71000" y="5080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approach minimized per-unit costs while ensuring maximum production availability across all three continents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788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 NAVY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4" name="Text 32"/>
          <p:cNvSpPr/>
          <p:nvPr/>
        </p:nvSpPr>
        <p:spPr>
          <a:xfrm>
            <a:off x="14859000" y="87884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Financial Discipline &amp; Marketing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5200" y="114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Capital structure optimization and data-driven market approach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879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FINANCIAL DISCIPLINE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987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60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2540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Equity Base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Maintained healthy equity ratio with zero short-term debt exposure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2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36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 Reinvestment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Reinvested earnings to avoid taxes and compound growth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25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8685" y="138698"/>
                </a:moveTo>
                <a:lnTo>
                  <a:pt x="60146" y="160159"/>
                </a:lnTo>
                <a:cubicBezTo>
                  <a:pt x="64314" y="164326"/>
                  <a:pt x="69939" y="166688"/>
                  <a:pt x="75843" y="166688"/>
                </a:cubicBezTo>
                <a:lnTo>
                  <a:pt x="90775" y="166688"/>
                </a:lnTo>
                <a:cubicBezTo>
                  <a:pt x="96679" y="166688"/>
                  <a:pt x="102304" y="169049"/>
                  <a:pt x="106472" y="173216"/>
                </a:cubicBezTo>
                <a:lnTo>
                  <a:pt x="126821" y="193566"/>
                </a:lnTo>
                <a:cubicBezTo>
                  <a:pt x="130989" y="197733"/>
                  <a:pt x="133350" y="203359"/>
                  <a:pt x="133350" y="209262"/>
                </a:cubicBezTo>
                <a:lnTo>
                  <a:pt x="133350" y="235307"/>
                </a:lnTo>
                <a:cubicBezTo>
                  <a:pt x="133350" y="241211"/>
                  <a:pt x="135711" y="246836"/>
                  <a:pt x="139879" y="251004"/>
                </a:cubicBezTo>
                <a:lnTo>
                  <a:pt x="149116" y="260241"/>
                </a:lnTo>
                <a:cubicBezTo>
                  <a:pt x="153283" y="264408"/>
                  <a:pt x="155644" y="270034"/>
                  <a:pt x="155644" y="275937"/>
                </a:cubicBezTo>
                <a:lnTo>
                  <a:pt x="155644" y="288925"/>
                </a:lnTo>
                <a:cubicBezTo>
                  <a:pt x="155644" y="301218"/>
                  <a:pt x="165576" y="311150"/>
                  <a:pt x="177869" y="311150"/>
                </a:cubicBezTo>
                <a:cubicBezTo>
                  <a:pt x="190163" y="311150"/>
                  <a:pt x="200094" y="301218"/>
                  <a:pt x="200094" y="288925"/>
                </a:cubicBezTo>
                <a:lnTo>
                  <a:pt x="200094" y="287050"/>
                </a:lnTo>
                <a:cubicBezTo>
                  <a:pt x="200094" y="281146"/>
                  <a:pt x="202456" y="275521"/>
                  <a:pt x="206623" y="271353"/>
                </a:cubicBezTo>
                <a:lnTo>
                  <a:pt x="238085" y="239891"/>
                </a:lnTo>
                <a:cubicBezTo>
                  <a:pt x="242253" y="235724"/>
                  <a:pt x="244614" y="230098"/>
                  <a:pt x="244614" y="224195"/>
                </a:cubicBezTo>
                <a:lnTo>
                  <a:pt x="244614" y="200094"/>
                </a:lnTo>
                <a:cubicBezTo>
                  <a:pt x="244614" y="187801"/>
                  <a:pt x="234682" y="177869"/>
                  <a:pt x="222389" y="177869"/>
                </a:cubicBezTo>
                <a:lnTo>
                  <a:pt x="164951" y="177869"/>
                </a:lnTo>
                <a:cubicBezTo>
                  <a:pt x="159048" y="177869"/>
                  <a:pt x="153422" y="175508"/>
                  <a:pt x="149255" y="171341"/>
                </a:cubicBezTo>
                <a:lnTo>
                  <a:pt x="138142" y="160228"/>
                </a:lnTo>
                <a:cubicBezTo>
                  <a:pt x="135225" y="157311"/>
                  <a:pt x="133558" y="153283"/>
                  <a:pt x="133558" y="149116"/>
                </a:cubicBezTo>
                <a:cubicBezTo>
                  <a:pt x="133558" y="140434"/>
                  <a:pt x="140573" y="133419"/>
                  <a:pt x="149255" y="133419"/>
                </a:cubicBezTo>
                <a:lnTo>
                  <a:pt x="173355" y="133419"/>
                </a:lnTo>
                <a:cubicBezTo>
                  <a:pt x="182037" y="133419"/>
                  <a:pt x="189051" y="126405"/>
                  <a:pt x="189051" y="117723"/>
                </a:cubicBezTo>
                <a:cubicBezTo>
                  <a:pt x="189051" y="113556"/>
                  <a:pt x="187385" y="109528"/>
                  <a:pt x="184468" y="106611"/>
                </a:cubicBezTo>
                <a:lnTo>
                  <a:pt x="170785" y="92928"/>
                </a:lnTo>
                <a:cubicBezTo>
                  <a:pt x="168077" y="90289"/>
                  <a:pt x="166688" y="86886"/>
                  <a:pt x="166688" y="83344"/>
                </a:cubicBezTo>
                <a:cubicBezTo>
                  <a:pt x="166688" y="79802"/>
                  <a:pt x="168077" y="76398"/>
                  <a:pt x="170646" y="73829"/>
                </a:cubicBezTo>
                <a:lnTo>
                  <a:pt x="182662" y="61813"/>
                </a:lnTo>
                <a:cubicBezTo>
                  <a:pt x="186690" y="57785"/>
                  <a:pt x="188982" y="52298"/>
                  <a:pt x="188982" y="46603"/>
                </a:cubicBezTo>
                <a:cubicBezTo>
                  <a:pt x="188982" y="41602"/>
                  <a:pt x="187315" y="37088"/>
                  <a:pt x="184537" y="33476"/>
                </a:cubicBezTo>
                <a:cubicBezTo>
                  <a:pt x="182314" y="33407"/>
                  <a:pt x="180092" y="33337"/>
                  <a:pt x="177869" y="33337"/>
                </a:cubicBezTo>
                <a:cubicBezTo>
                  <a:pt x="111611" y="33337"/>
                  <a:pt x="55840" y="77926"/>
                  <a:pt x="38755" y="138698"/>
                </a:cubicBezTo>
                <a:close/>
                <a:moveTo>
                  <a:pt x="322263" y="177800"/>
                </a:moveTo>
                <a:cubicBezTo>
                  <a:pt x="322263" y="153769"/>
                  <a:pt x="316428" y="131128"/>
                  <a:pt x="306010" y="111264"/>
                </a:cubicBezTo>
                <a:cubicBezTo>
                  <a:pt x="301565" y="111889"/>
                  <a:pt x="297190" y="113973"/>
                  <a:pt x="293578" y="117584"/>
                </a:cubicBezTo>
                <a:lnTo>
                  <a:pt x="284272" y="126891"/>
                </a:lnTo>
                <a:cubicBezTo>
                  <a:pt x="280104" y="131058"/>
                  <a:pt x="277743" y="136684"/>
                  <a:pt x="277743" y="142587"/>
                </a:cubicBezTo>
                <a:lnTo>
                  <a:pt x="277743" y="166688"/>
                </a:lnTo>
                <a:cubicBezTo>
                  <a:pt x="277743" y="178981"/>
                  <a:pt x="287675" y="188913"/>
                  <a:pt x="299968" y="188913"/>
                </a:cubicBezTo>
                <a:lnTo>
                  <a:pt x="316706" y="188913"/>
                </a:lnTo>
                <a:cubicBezTo>
                  <a:pt x="318443" y="188913"/>
                  <a:pt x="320179" y="188704"/>
                  <a:pt x="321776" y="188357"/>
                </a:cubicBezTo>
                <a:cubicBezTo>
                  <a:pt x="322054" y="184884"/>
                  <a:pt x="322124" y="181342"/>
                  <a:pt x="322124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000" y="4191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Transfers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Used inter-continental money transfers for tax and currency optimization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1879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MARKETING STRATEGY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22987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Shape 14"/>
          <p:cNvSpPr/>
          <p:nvPr/>
        </p:nvSpPr>
        <p:spPr>
          <a:xfrm>
            <a:off x="8359775" y="2603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78646" y="27156"/>
                </a:moveTo>
                <a:lnTo>
                  <a:pt x="381575" y="131544"/>
                </a:lnTo>
                <a:cubicBezTo>
                  <a:pt x="400814" y="151061"/>
                  <a:pt x="400814" y="182314"/>
                  <a:pt x="381575" y="201831"/>
                </a:cubicBezTo>
                <a:lnTo>
                  <a:pt x="272951" y="311775"/>
                </a:lnTo>
                <a:cubicBezTo>
                  <a:pt x="266492" y="318304"/>
                  <a:pt x="255935" y="318373"/>
                  <a:pt x="249406" y="311914"/>
                </a:cubicBezTo>
                <a:cubicBezTo>
                  <a:pt x="242878" y="305455"/>
                  <a:pt x="242808" y="294898"/>
                  <a:pt x="249267" y="288369"/>
                </a:cubicBezTo>
                <a:lnTo>
                  <a:pt x="357892" y="178356"/>
                </a:lnTo>
                <a:cubicBezTo>
                  <a:pt x="364282" y="171896"/>
                  <a:pt x="364282" y="161409"/>
                  <a:pt x="357892" y="154950"/>
                </a:cubicBezTo>
                <a:lnTo>
                  <a:pt x="254893" y="50631"/>
                </a:lnTo>
                <a:cubicBezTo>
                  <a:pt x="248434" y="44103"/>
                  <a:pt x="248503" y="33546"/>
                  <a:pt x="255032" y="27087"/>
                </a:cubicBezTo>
                <a:cubicBezTo>
                  <a:pt x="261560" y="20628"/>
                  <a:pt x="272117" y="20697"/>
                  <a:pt x="278576" y="27226"/>
                </a:cubicBezTo>
                <a:close/>
                <a:moveTo>
                  <a:pt x="22294" y="159395"/>
                </a:moveTo>
                <a:lnTo>
                  <a:pt x="22294" y="66675"/>
                </a:lnTo>
                <a:cubicBezTo>
                  <a:pt x="22294" y="42158"/>
                  <a:pt x="42228" y="22225"/>
                  <a:pt x="66744" y="22225"/>
                </a:cubicBezTo>
                <a:lnTo>
                  <a:pt x="159464" y="22225"/>
                </a:lnTo>
                <a:cubicBezTo>
                  <a:pt x="171271" y="22225"/>
                  <a:pt x="182592" y="26878"/>
                  <a:pt x="190927" y="35213"/>
                </a:cubicBezTo>
                <a:lnTo>
                  <a:pt x="290939" y="135225"/>
                </a:lnTo>
                <a:cubicBezTo>
                  <a:pt x="308302" y="152589"/>
                  <a:pt x="308302" y="180717"/>
                  <a:pt x="290939" y="198080"/>
                </a:cubicBezTo>
                <a:lnTo>
                  <a:pt x="198219" y="290800"/>
                </a:lnTo>
                <a:cubicBezTo>
                  <a:pt x="180856" y="308164"/>
                  <a:pt x="152727" y="308164"/>
                  <a:pt x="135364" y="290800"/>
                </a:cubicBezTo>
                <a:lnTo>
                  <a:pt x="35352" y="190788"/>
                </a:lnTo>
                <a:cubicBezTo>
                  <a:pt x="27017" y="182453"/>
                  <a:pt x="22364" y="171133"/>
                  <a:pt x="22364" y="159325"/>
                </a:cubicBezTo>
                <a:close/>
                <a:moveTo>
                  <a:pt x="122307" y="100013"/>
                </a:moveTo>
                <a:cubicBezTo>
                  <a:pt x="122307" y="87746"/>
                  <a:pt x="112348" y="77788"/>
                  <a:pt x="100082" y="77788"/>
                </a:cubicBezTo>
                <a:cubicBezTo>
                  <a:pt x="87816" y="77788"/>
                  <a:pt x="77857" y="87746"/>
                  <a:pt x="77857" y="100013"/>
                </a:cubicBezTo>
                <a:cubicBezTo>
                  <a:pt x="77857" y="112279"/>
                  <a:pt x="87816" y="122238"/>
                  <a:pt x="100082" y="122238"/>
                </a:cubicBezTo>
                <a:cubicBezTo>
                  <a:pt x="112348" y="122238"/>
                  <a:pt x="122307" y="112279"/>
                  <a:pt x="122307" y="100013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2540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Affordable Pricing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Made products market-fit with competitive, accessible price points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342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131" y="0"/>
                </a:moveTo>
                <a:cubicBezTo>
                  <a:pt x="268506" y="0"/>
                  <a:pt x="355600" y="87094"/>
                  <a:pt x="355600" y="194469"/>
                </a:cubicBezTo>
                <a:cubicBezTo>
                  <a:pt x="355600" y="203706"/>
                  <a:pt x="348169" y="211138"/>
                  <a:pt x="338931" y="211138"/>
                </a:cubicBezTo>
                <a:cubicBezTo>
                  <a:pt x="329694" y="211138"/>
                  <a:pt x="322263" y="203706"/>
                  <a:pt x="322263" y="194469"/>
                </a:cubicBezTo>
                <a:cubicBezTo>
                  <a:pt x="322263" y="105499"/>
                  <a:pt x="250101" y="33337"/>
                  <a:pt x="161131" y="33337"/>
                </a:cubicBezTo>
                <a:cubicBezTo>
                  <a:pt x="151894" y="33337"/>
                  <a:pt x="144463" y="25906"/>
                  <a:pt x="144463" y="16669"/>
                </a:cubicBezTo>
                <a:cubicBezTo>
                  <a:pt x="144463" y="7431"/>
                  <a:pt x="151894" y="0"/>
                  <a:pt x="161131" y="0"/>
                </a:cubicBezTo>
                <a:close/>
                <a:moveTo>
                  <a:pt x="144463" y="83344"/>
                </a:moveTo>
                <a:cubicBezTo>
                  <a:pt x="144463" y="74106"/>
                  <a:pt x="151894" y="66675"/>
                  <a:pt x="161131" y="66675"/>
                </a:cubicBezTo>
                <a:cubicBezTo>
                  <a:pt x="231696" y="66675"/>
                  <a:pt x="288925" y="123904"/>
                  <a:pt x="288925" y="194469"/>
                </a:cubicBezTo>
                <a:cubicBezTo>
                  <a:pt x="288925" y="203706"/>
                  <a:pt x="281494" y="211138"/>
                  <a:pt x="272256" y="211138"/>
                </a:cubicBezTo>
                <a:cubicBezTo>
                  <a:pt x="263019" y="211138"/>
                  <a:pt x="255587" y="203706"/>
                  <a:pt x="255587" y="194469"/>
                </a:cubicBezTo>
                <a:cubicBezTo>
                  <a:pt x="255587" y="142309"/>
                  <a:pt x="213291" y="100013"/>
                  <a:pt x="161131" y="100013"/>
                </a:cubicBezTo>
                <a:cubicBezTo>
                  <a:pt x="151894" y="100013"/>
                  <a:pt x="144463" y="92581"/>
                  <a:pt x="144463" y="83344"/>
                </a:cubicBezTo>
                <a:close/>
                <a:moveTo>
                  <a:pt x="18336" y="99110"/>
                </a:moveTo>
                <a:cubicBezTo>
                  <a:pt x="24448" y="86678"/>
                  <a:pt x="40838" y="85288"/>
                  <a:pt x="50631" y="95081"/>
                </a:cubicBezTo>
                <a:lnTo>
                  <a:pt x="139879" y="184329"/>
                </a:lnTo>
                <a:lnTo>
                  <a:pt x="162104" y="162104"/>
                </a:lnTo>
                <a:cubicBezTo>
                  <a:pt x="170785" y="153422"/>
                  <a:pt x="184884" y="153422"/>
                  <a:pt x="193566" y="162104"/>
                </a:cubicBezTo>
                <a:cubicBezTo>
                  <a:pt x="202248" y="170785"/>
                  <a:pt x="202248" y="184884"/>
                  <a:pt x="193566" y="193566"/>
                </a:cubicBezTo>
                <a:lnTo>
                  <a:pt x="171341" y="215791"/>
                </a:lnTo>
                <a:lnTo>
                  <a:pt x="260588" y="305038"/>
                </a:lnTo>
                <a:cubicBezTo>
                  <a:pt x="270381" y="314831"/>
                  <a:pt x="268922" y="331153"/>
                  <a:pt x="256560" y="337334"/>
                </a:cubicBezTo>
                <a:cubicBezTo>
                  <a:pt x="232807" y="349071"/>
                  <a:pt x="206137" y="355669"/>
                  <a:pt x="177869" y="355669"/>
                </a:cubicBezTo>
                <a:cubicBezTo>
                  <a:pt x="79663" y="355669"/>
                  <a:pt x="69" y="276076"/>
                  <a:pt x="69" y="177869"/>
                </a:cubicBezTo>
                <a:cubicBezTo>
                  <a:pt x="69" y="149602"/>
                  <a:pt x="6667" y="122863"/>
                  <a:pt x="18405" y="99179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0" y="33655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Coverage Data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Forecasted demand using real network coverage and growth rate data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59775" y="4254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-11112"/>
                </a:moveTo>
                <a:cubicBezTo>
                  <a:pt x="212318" y="-11112"/>
                  <a:pt x="222250" y="-1181"/>
                  <a:pt x="222250" y="11112"/>
                </a:cubicBezTo>
                <a:lnTo>
                  <a:pt x="222250" y="23822"/>
                </a:lnTo>
                <a:cubicBezTo>
                  <a:pt x="290384" y="33546"/>
                  <a:pt x="344279" y="87441"/>
                  <a:pt x="354003" y="155575"/>
                </a:cubicBezTo>
                <a:lnTo>
                  <a:pt x="366712" y="155575"/>
                </a:lnTo>
                <a:cubicBezTo>
                  <a:pt x="379006" y="155575"/>
                  <a:pt x="388938" y="165507"/>
                  <a:pt x="388938" y="177800"/>
                </a:cubicBezTo>
                <a:cubicBezTo>
                  <a:pt x="388938" y="190093"/>
                  <a:pt x="379006" y="200025"/>
                  <a:pt x="366712" y="200025"/>
                </a:cubicBezTo>
                <a:lnTo>
                  <a:pt x="354003" y="200025"/>
                </a:lnTo>
                <a:cubicBezTo>
                  <a:pt x="344279" y="268159"/>
                  <a:pt x="290384" y="322054"/>
                  <a:pt x="222250" y="331778"/>
                </a:cubicBezTo>
                <a:lnTo>
                  <a:pt x="222250" y="344488"/>
                </a:lnTo>
                <a:cubicBezTo>
                  <a:pt x="222250" y="356781"/>
                  <a:pt x="212318" y="366712"/>
                  <a:pt x="200025" y="366712"/>
                </a:cubicBezTo>
                <a:cubicBezTo>
                  <a:pt x="187732" y="366712"/>
                  <a:pt x="177800" y="356781"/>
                  <a:pt x="177800" y="344488"/>
                </a:cubicBezTo>
                <a:lnTo>
                  <a:pt x="177800" y="331778"/>
                </a:lnTo>
                <a:cubicBezTo>
                  <a:pt x="109666" y="322054"/>
                  <a:pt x="55771" y="268159"/>
                  <a:pt x="46047" y="200025"/>
                </a:cubicBezTo>
                <a:lnTo>
                  <a:pt x="33337" y="200025"/>
                </a:lnTo>
                <a:cubicBezTo>
                  <a:pt x="21044" y="200025"/>
                  <a:pt x="11112" y="190093"/>
                  <a:pt x="11112" y="177800"/>
                </a:cubicBezTo>
                <a:cubicBezTo>
                  <a:pt x="11112" y="165507"/>
                  <a:pt x="21044" y="155575"/>
                  <a:pt x="33337" y="155575"/>
                </a:cubicBezTo>
                <a:lnTo>
                  <a:pt x="46047" y="155575"/>
                </a:lnTo>
                <a:cubicBezTo>
                  <a:pt x="55771" y="87441"/>
                  <a:pt x="109666" y="33546"/>
                  <a:pt x="177800" y="23822"/>
                </a:cubicBezTo>
                <a:lnTo>
                  <a:pt x="177800" y="11112"/>
                </a:lnTo>
                <a:cubicBezTo>
                  <a:pt x="177800" y="-1181"/>
                  <a:pt x="187732" y="-11112"/>
                  <a:pt x="200025" y="-11112"/>
                </a:cubicBezTo>
                <a:close/>
                <a:moveTo>
                  <a:pt x="91122" y="200025"/>
                </a:moveTo>
                <a:cubicBezTo>
                  <a:pt x="99943" y="243572"/>
                  <a:pt x="134253" y="277882"/>
                  <a:pt x="177800" y="286703"/>
                </a:cubicBezTo>
                <a:lnTo>
                  <a:pt x="177800" y="277813"/>
                </a:lnTo>
                <a:cubicBezTo>
                  <a:pt x="177800" y="265519"/>
                  <a:pt x="187732" y="255587"/>
                  <a:pt x="200025" y="255587"/>
                </a:cubicBezTo>
                <a:cubicBezTo>
                  <a:pt x="212318" y="255587"/>
                  <a:pt x="222250" y="265519"/>
                  <a:pt x="222250" y="277813"/>
                </a:cubicBezTo>
                <a:lnTo>
                  <a:pt x="222250" y="286703"/>
                </a:lnTo>
                <a:cubicBezTo>
                  <a:pt x="265797" y="277882"/>
                  <a:pt x="300107" y="243572"/>
                  <a:pt x="308928" y="200025"/>
                </a:cubicBezTo>
                <a:lnTo>
                  <a:pt x="300038" y="200025"/>
                </a:lnTo>
                <a:cubicBezTo>
                  <a:pt x="287744" y="200025"/>
                  <a:pt x="277813" y="190093"/>
                  <a:pt x="277813" y="177800"/>
                </a:cubicBezTo>
                <a:cubicBezTo>
                  <a:pt x="277813" y="165507"/>
                  <a:pt x="287744" y="155575"/>
                  <a:pt x="300038" y="155575"/>
                </a:cubicBezTo>
                <a:lnTo>
                  <a:pt x="308928" y="155575"/>
                </a:lnTo>
                <a:cubicBezTo>
                  <a:pt x="300107" y="112028"/>
                  <a:pt x="265797" y="77718"/>
                  <a:pt x="222250" y="68898"/>
                </a:cubicBezTo>
                <a:lnTo>
                  <a:pt x="222250" y="77788"/>
                </a:lnTo>
                <a:cubicBezTo>
                  <a:pt x="222250" y="90081"/>
                  <a:pt x="212318" y="100013"/>
                  <a:pt x="200025" y="100013"/>
                </a:cubicBezTo>
                <a:cubicBezTo>
                  <a:pt x="187732" y="100013"/>
                  <a:pt x="177800" y="90081"/>
                  <a:pt x="177800" y="77788"/>
                </a:cubicBezTo>
                <a:lnTo>
                  <a:pt x="177800" y="68898"/>
                </a:lnTo>
                <a:cubicBezTo>
                  <a:pt x="134253" y="77718"/>
                  <a:pt x="99943" y="112028"/>
                  <a:pt x="91122" y="155575"/>
                </a:cubicBezTo>
                <a:lnTo>
                  <a:pt x="100013" y="155575"/>
                </a:lnTo>
                <a:cubicBezTo>
                  <a:pt x="112306" y="155575"/>
                  <a:pt x="122238" y="165507"/>
                  <a:pt x="122238" y="177800"/>
                </a:cubicBezTo>
                <a:cubicBezTo>
                  <a:pt x="122238" y="190093"/>
                  <a:pt x="112306" y="200025"/>
                  <a:pt x="100013" y="200025"/>
                </a:cubicBezTo>
                <a:lnTo>
                  <a:pt x="91122" y="200025"/>
                </a:lnTo>
                <a:close/>
                <a:moveTo>
                  <a:pt x="200025" y="144463"/>
                </a:moveTo>
                <a:cubicBezTo>
                  <a:pt x="218424" y="144463"/>
                  <a:pt x="233363" y="159401"/>
                  <a:pt x="233363" y="177800"/>
                </a:cubicBezTo>
                <a:cubicBezTo>
                  <a:pt x="233363" y="196199"/>
                  <a:pt x="218424" y="211138"/>
                  <a:pt x="200025" y="211138"/>
                </a:cubicBezTo>
                <a:cubicBezTo>
                  <a:pt x="181626" y="211138"/>
                  <a:pt x="166688" y="196199"/>
                  <a:pt x="166688" y="177800"/>
                </a:cubicBezTo>
                <a:cubicBezTo>
                  <a:pt x="166688" y="159401"/>
                  <a:pt x="181626" y="144463"/>
                  <a:pt x="200025" y="144463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8890000" y="4191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Demand Forecasting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Predicted market shifts to align production with actual demand patterns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334000"/>
            <a:ext cx="14732000" cy="254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52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COMBINED IMPACT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6000" y="5943600"/>
            <a:ext cx="635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6223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$1.429M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6921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Profit Achieved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26000" y="6223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12.52%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26000" y="6921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Share Captured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36000" y="6223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6000" y="6921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Short-Term Debt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192000" y="6223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Monopolies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192000" y="6921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Asia Tech Segments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8788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 NAVY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5" name="Text 33"/>
          <p:cNvSpPr/>
          <p:nvPr/>
        </p:nvSpPr>
        <p:spPr>
          <a:xfrm>
            <a:off x="14859000" y="87884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d3iquguxr6r4/mnt/agents/output/team-navy-capstone/images/9_8_416_876_Business_Blue_Background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D32">
                  <a:alpha val="95000"/>
                </a:srgbClr>
              </a:gs>
              <a:gs pos="60000">
                <a:srgbClr val="0F1D32">
                  <a:alpha val="80000"/>
                </a:srgbClr>
              </a:gs>
              <a:gs pos="100000">
                <a:srgbClr val="0F1D32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016000" cy="381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outcomes and reflections from the simulation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5200" y="1143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competencies developed through the business simulation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68500"/>
            <a:ext cx="7112000" cy="292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2984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Data-Driven Decision Making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4290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Learned to interpret financial statements, market changes, demand forecasts, and cost trends to make informed strategic decisions backed by real data.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968500"/>
            <a:ext cx="7112000" cy="292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1" name="Shape 9"/>
          <p:cNvSpPr/>
          <p:nvPr/>
        </p:nvSpPr>
        <p:spPr>
          <a:xfrm>
            <a:off x="86995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99500" y="2984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Risk Management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99500" y="34290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Gained practical insight into managing risks across fluctuating costs, varying tax regimes, and currency value changes in a global multi-market environment.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207000"/>
            <a:ext cx="7112000" cy="292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" y="552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5385" y="226715"/>
                </a:moveTo>
                <a:cubicBezTo>
                  <a:pt x="78581" y="134441"/>
                  <a:pt x="158055" y="63500"/>
                  <a:pt x="254000" y="63500"/>
                </a:cubicBezTo>
                <a:cubicBezTo>
                  <a:pt x="306586" y="63500"/>
                  <a:pt x="354211" y="84832"/>
                  <a:pt x="388739" y="119261"/>
                </a:cubicBezTo>
                <a:cubicBezTo>
                  <a:pt x="388938" y="119459"/>
                  <a:pt x="389136" y="119658"/>
                  <a:pt x="389334" y="119856"/>
                </a:cubicBezTo>
                <a:lnTo>
                  <a:pt x="396875" y="127000"/>
                </a:lnTo>
                <a:lnTo>
                  <a:pt x="349349" y="127000"/>
                </a:lnTo>
                <a:cubicBezTo>
                  <a:pt x="331788" y="127000"/>
                  <a:pt x="317599" y="141188"/>
                  <a:pt x="317599" y="158750"/>
                </a:cubicBezTo>
                <a:cubicBezTo>
                  <a:pt x="317599" y="176312"/>
                  <a:pt x="331788" y="190500"/>
                  <a:pt x="349349" y="190500"/>
                </a:cubicBezTo>
                <a:lnTo>
                  <a:pt x="476349" y="190500"/>
                </a:lnTo>
                <a:cubicBezTo>
                  <a:pt x="493911" y="190500"/>
                  <a:pt x="508099" y="176312"/>
                  <a:pt x="508099" y="158750"/>
                </a:cubicBezTo>
                <a:lnTo>
                  <a:pt x="508099" y="31750"/>
                </a:lnTo>
                <a:cubicBezTo>
                  <a:pt x="508099" y="14188"/>
                  <a:pt x="493911" y="0"/>
                  <a:pt x="476349" y="0"/>
                </a:cubicBezTo>
                <a:cubicBezTo>
                  <a:pt x="458788" y="0"/>
                  <a:pt x="444599" y="14188"/>
                  <a:pt x="444599" y="31750"/>
                </a:cubicBezTo>
                <a:lnTo>
                  <a:pt x="444599" y="84733"/>
                </a:lnTo>
                <a:lnTo>
                  <a:pt x="433388" y="74116"/>
                </a:lnTo>
                <a:cubicBezTo>
                  <a:pt x="387449" y="28377"/>
                  <a:pt x="323949" y="0"/>
                  <a:pt x="254000" y="0"/>
                </a:cubicBezTo>
                <a:cubicBezTo>
                  <a:pt x="126008" y="0"/>
                  <a:pt x="20141" y="94655"/>
                  <a:pt x="2580" y="217785"/>
                </a:cubicBezTo>
                <a:cubicBezTo>
                  <a:pt x="99" y="235148"/>
                  <a:pt x="12105" y="251222"/>
                  <a:pt x="29468" y="253702"/>
                </a:cubicBezTo>
                <a:cubicBezTo>
                  <a:pt x="46831" y="256183"/>
                  <a:pt x="62905" y="244078"/>
                  <a:pt x="65385" y="226814"/>
                </a:cubicBezTo>
                <a:close/>
                <a:moveTo>
                  <a:pt x="505420" y="290215"/>
                </a:moveTo>
                <a:cubicBezTo>
                  <a:pt x="507901" y="272852"/>
                  <a:pt x="495796" y="256778"/>
                  <a:pt x="478532" y="254298"/>
                </a:cubicBezTo>
                <a:cubicBezTo>
                  <a:pt x="461268" y="251817"/>
                  <a:pt x="445095" y="263922"/>
                  <a:pt x="442615" y="281186"/>
                </a:cubicBezTo>
                <a:cubicBezTo>
                  <a:pt x="429419" y="373459"/>
                  <a:pt x="349945" y="444401"/>
                  <a:pt x="254000" y="444401"/>
                </a:cubicBezTo>
                <a:cubicBezTo>
                  <a:pt x="201414" y="444401"/>
                  <a:pt x="153789" y="423069"/>
                  <a:pt x="119261" y="388640"/>
                </a:cubicBezTo>
                <a:cubicBezTo>
                  <a:pt x="119062" y="388441"/>
                  <a:pt x="118864" y="388243"/>
                  <a:pt x="118666" y="388045"/>
                </a:cubicBezTo>
                <a:lnTo>
                  <a:pt x="111125" y="380901"/>
                </a:lnTo>
                <a:lnTo>
                  <a:pt x="158651" y="380901"/>
                </a:lnTo>
                <a:cubicBezTo>
                  <a:pt x="176212" y="380901"/>
                  <a:pt x="190401" y="366713"/>
                  <a:pt x="190401" y="349151"/>
                </a:cubicBezTo>
                <a:cubicBezTo>
                  <a:pt x="190401" y="331589"/>
                  <a:pt x="176212" y="317401"/>
                  <a:pt x="158651" y="317401"/>
                </a:cubicBezTo>
                <a:lnTo>
                  <a:pt x="31750" y="317500"/>
                </a:lnTo>
                <a:cubicBezTo>
                  <a:pt x="23316" y="317500"/>
                  <a:pt x="15180" y="320873"/>
                  <a:pt x="9227" y="326926"/>
                </a:cubicBezTo>
                <a:cubicBezTo>
                  <a:pt x="3274" y="332978"/>
                  <a:pt x="-99" y="341015"/>
                  <a:pt x="0" y="349548"/>
                </a:cubicBezTo>
                <a:lnTo>
                  <a:pt x="992" y="475555"/>
                </a:lnTo>
                <a:cubicBezTo>
                  <a:pt x="1091" y="493117"/>
                  <a:pt x="15478" y="507206"/>
                  <a:pt x="33040" y="507008"/>
                </a:cubicBezTo>
                <a:cubicBezTo>
                  <a:pt x="50602" y="506809"/>
                  <a:pt x="64691" y="492522"/>
                  <a:pt x="64492" y="474960"/>
                </a:cubicBezTo>
                <a:lnTo>
                  <a:pt x="64095" y="423863"/>
                </a:lnTo>
                <a:lnTo>
                  <a:pt x="74712" y="433884"/>
                </a:lnTo>
                <a:cubicBezTo>
                  <a:pt x="120650" y="479623"/>
                  <a:pt x="184051" y="508000"/>
                  <a:pt x="254000" y="508000"/>
                </a:cubicBezTo>
                <a:cubicBezTo>
                  <a:pt x="381992" y="508000"/>
                  <a:pt x="487859" y="413345"/>
                  <a:pt x="505420" y="290215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62230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Agility &amp; Adaptability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66675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Learned to pivot strategy dynamically based on competitor actions and market shifts, round by round, developing rapid strategic response capabilities.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5207000"/>
            <a:ext cx="7112000" cy="292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9" name="Shape 17"/>
          <p:cNvSpPr/>
          <p:nvPr/>
        </p:nvSpPr>
        <p:spPr>
          <a:xfrm>
            <a:off x="8667750" y="5524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7625" y="194270"/>
                </a:moveTo>
                <a:lnTo>
                  <a:pt x="255191" y="279698"/>
                </a:lnTo>
                <a:cubicBezTo>
                  <a:pt x="264914" y="283666"/>
                  <a:pt x="275233" y="285750"/>
                  <a:pt x="285750" y="285750"/>
                </a:cubicBezTo>
                <a:cubicBezTo>
                  <a:pt x="296267" y="285750"/>
                  <a:pt x="306586" y="283666"/>
                  <a:pt x="316309" y="279698"/>
                </a:cubicBezTo>
                <a:lnTo>
                  <a:pt x="556816" y="180677"/>
                </a:lnTo>
                <a:cubicBezTo>
                  <a:pt x="565745" y="177006"/>
                  <a:pt x="571500" y="168374"/>
                  <a:pt x="571500" y="158750"/>
                </a:cubicBezTo>
                <a:cubicBezTo>
                  <a:pt x="571500" y="149126"/>
                  <a:pt x="565745" y="140494"/>
                  <a:pt x="556816" y="136823"/>
                </a:cubicBezTo>
                <a:lnTo>
                  <a:pt x="316309" y="37802"/>
                </a:lnTo>
                <a:cubicBezTo>
                  <a:pt x="306586" y="33834"/>
                  <a:pt x="296267" y="31750"/>
                  <a:pt x="285750" y="31750"/>
                </a:cubicBezTo>
                <a:cubicBezTo>
                  <a:pt x="275233" y="31750"/>
                  <a:pt x="264914" y="33834"/>
                  <a:pt x="255191" y="37802"/>
                </a:cubicBezTo>
                <a:lnTo>
                  <a:pt x="14684" y="136823"/>
                </a:lnTo>
                <a:cubicBezTo>
                  <a:pt x="575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10616" y="476250"/>
                  <a:pt x="23812" y="476250"/>
                </a:cubicBezTo>
                <a:cubicBezTo>
                  <a:pt x="37009" y="476250"/>
                  <a:pt x="47625" y="465634"/>
                  <a:pt x="47625" y="452437"/>
                </a:cubicBezTo>
                <a:lnTo>
                  <a:pt x="47625" y="194270"/>
                </a:lnTo>
                <a:close/>
                <a:moveTo>
                  <a:pt x="95250" y="265410"/>
                </a:moveTo>
                <a:lnTo>
                  <a:pt x="95250" y="381000"/>
                </a:lnTo>
                <a:cubicBezTo>
                  <a:pt x="95250" y="433586"/>
                  <a:pt x="180578" y="476250"/>
                  <a:pt x="285750" y="476250"/>
                </a:cubicBezTo>
                <a:cubicBezTo>
                  <a:pt x="390922" y="476250"/>
                  <a:pt x="476250" y="433586"/>
                  <a:pt x="476250" y="381000"/>
                </a:cubicBezTo>
                <a:lnTo>
                  <a:pt x="476250" y="265311"/>
                </a:lnTo>
                <a:lnTo>
                  <a:pt x="334466" y="323751"/>
                </a:lnTo>
                <a:cubicBezTo>
                  <a:pt x="318988" y="330101"/>
                  <a:pt x="302518" y="333375"/>
                  <a:pt x="285750" y="333375"/>
                </a:cubicBezTo>
                <a:cubicBezTo>
                  <a:pt x="268982" y="333375"/>
                  <a:pt x="252512" y="330101"/>
                  <a:pt x="237034" y="323751"/>
                </a:cubicBezTo>
                <a:lnTo>
                  <a:pt x="95250" y="265311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20" name="Text 18"/>
          <p:cNvSpPr/>
          <p:nvPr/>
        </p:nvSpPr>
        <p:spPr>
          <a:xfrm>
            <a:off x="8699500" y="62230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MBA Knowledge Application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99500" y="66675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theoretical knowledge from Strategy, Marketing, Finance, and Operations courses in a realistic competitive business simulation environment.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87884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 NAVY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4" name="Text 22"/>
          <p:cNvSpPr/>
          <p:nvPr/>
        </p:nvSpPr>
        <p:spPr>
          <a:xfrm>
            <a:off x="14859000" y="87884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d3iquguxr6r4/mnt/agents/output/team-navy-capstone/images/5_Abstract_dark_navy_blue_premium_background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D32">
                  <a:alpha val="90000"/>
                </a:srgbClr>
              </a:gs>
              <a:gs pos="50000">
                <a:srgbClr val="0F1D32">
                  <a:alpha val="80000"/>
                </a:srgbClr>
              </a:gs>
              <a:gs pos="100000">
                <a:srgbClr val="0F1D32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953000" y="2794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400" kern="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NAVY · UNIVERSE 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8000" y="3302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spc="600" kern="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4508500"/>
            <a:ext cx="2540000" cy="25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4"/>
          <p:cNvSpPr/>
          <p:nvPr/>
        </p:nvSpPr>
        <p:spPr>
          <a:xfrm>
            <a:off x="4318000" y="4762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83000" y="5461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Anshuman Dwivedi (MDB25043) · Saif Ali (MDB25044)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Manavendra Singh (MDB25045) · Aabda Khatoon (MDB25046)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850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CAPSTONE 2026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76000" y="85090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spc="100" kern="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Strategy Simulation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- Team Navy</dc:title>
  <dc:subject>Capstone Project - Team Navy</dc:subject>
  <dc:creator>Kimi</dc:creator>
  <cp:lastModifiedBy>Kimi</cp:lastModifiedBy>
  <cp:revision>1</cp:revision>
  <dcterms:created xsi:type="dcterms:W3CDTF">2026-06-09T19:30:24Z</dcterms:created>
  <dcterms:modified xsi:type="dcterms:W3CDTF">2026-06-09T19:30:24Z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{"Label":"Capstone Project - Team Navy","ContentProducer":"001191110108MACG2KBH8F10000","ProduceID":"19eadc19-97f2-8836-8000-0000a4929a74","ReservedCode1":"","ContentPropagator":"001191110108MACG2KBH8F20000","PropagateID":"19eadc19-97f2-8836-8000-0000a4929a74","ReservedCode2":""}</vt:lpwstr>
  </property>
</Properties>
</file>